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2" r:id="rId2"/>
    <p:sldId id="256" r:id="rId3"/>
    <p:sldId id="304" r:id="rId4"/>
    <p:sldId id="298" r:id="rId5"/>
    <p:sldId id="305" r:id="rId6"/>
    <p:sldId id="297" r:id="rId7"/>
    <p:sldId id="302" r:id="rId8"/>
    <p:sldId id="299" r:id="rId9"/>
    <p:sldId id="300" r:id="rId10"/>
    <p:sldId id="301" r:id="rId11"/>
    <p:sldId id="307" r:id="rId12"/>
    <p:sldId id="308" r:id="rId13"/>
  </p:sldIdLst>
  <p:sldSz cx="12192000" cy="6858000"/>
  <p:notesSz cx="9388475" cy="710247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6B9A338-AACD-6A96-D3F9-881CA4058909}" name="beso Ortoidze" initials="bO" userId="9441844aa767b202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so" initials="B" lastIdx="7" clrIdx="0">
    <p:extLst>
      <p:ext uri="{19B8F6BF-5375-455C-9EA6-DF929625EA0E}">
        <p15:presenceInfo xmlns:p15="http://schemas.microsoft.com/office/powerpoint/2012/main" userId="Beso" providerId="None"/>
      </p:ext>
    </p:extLst>
  </p:cmAuthor>
  <p:cmAuthor id="2" name="Beso Ortoidze" initials="B" lastIdx="2" clrIdx="1">
    <p:extLst>
      <p:ext uri="{19B8F6BF-5375-455C-9EA6-DF929625EA0E}">
        <p15:presenceInfo xmlns:p15="http://schemas.microsoft.com/office/powerpoint/2012/main" userId="Beso Ortoidze" providerId="None"/>
      </p:ext>
    </p:extLst>
  </p:cmAuthor>
  <p:cmAuthor id="3" name="beso Ortoidze" initials="bO" lastIdx="2" clrIdx="2">
    <p:extLst>
      <p:ext uri="{19B8F6BF-5375-455C-9EA6-DF929625EA0E}">
        <p15:presenceInfo xmlns:p15="http://schemas.microsoft.com/office/powerpoint/2012/main" userId="9441844aa767b20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WORK\Finance\2026\Partner%20meetings\1.15.2026%20-%20&#4318;&#4304;&#4320;&#4322;&#4316;&#4312;&#4317;&#4320;&#4311;&#4304;%20&#4328;&#4308;&#4334;&#4309;&#4308;&#4307;&#4320;&#4304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y%20Drive\WORK\Finance\&#4321;&#4322;&#4304;&#4322;&#4312;&#4321;&#4322;&#4312;&#4313;&#4304;\2025\12.31.2025%20-%20Statistic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eso\Downloads\12.31.2025%20-%20Statistics%20(2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49745063400652"/>
          <c:y val="0.20108807782684684"/>
          <c:w val="0.84725218722659668"/>
          <c:h val="0.71466061533974923"/>
        </c:manualLayout>
      </c:layout>
      <c:lineChart>
        <c:grouping val="stacked"/>
        <c:varyColors val="0"/>
        <c:ser>
          <c:idx val="0"/>
          <c:order val="0"/>
          <c:tx>
            <c:strRef>
              <c:f>'Revenues&amp;Incomes'!$B$35</c:f>
              <c:strCache>
                <c:ptCount val="1"/>
                <c:pt idx="0">
                  <c:v>შემოსავალი (მლნ. ლარი)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226354219731703E-2"/>
                  <c:y val="-4.16666666666667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6B2-46D4-A3D2-AF6D59155FD0}"/>
                </c:ext>
              </c:extLst>
            </c:dLbl>
            <c:dLbl>
              <c:idx val="1"/>
              <c:layout>
                <c:manualLayout>
                  <c:x val="-2.3773136355917813E-2"/>
                  <c:y val="-3.24074074074074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6B2-46D4-A3D2-AF6D59155FD0}"/>
                </c:ext>
              </c:extLst>
            </c:dLbl>
            <c:dLbl>
              <c:idx val="3"/>
              <c:layout>
                <c:manualLayout>
                  <c:x val="-2.207505518763803E-2"/>
                  <c:y val="-4.6296296296296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6B2-46D4-A3D2-AF6D59155FD0}"/>
                </c:ext>
              </c:extLst>
            </c:dLbl>
            <c:dLbl>
              <c:idx val="4"/>
              <c:layout>
                <c:manualLayout>
                  <c:x val="-4.2452029206996159E-2"/>
                  <c:y val="-6.01851851851851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6B2-46D4-A3D2-AF6D59155FD0}"/>
                </c:ext>
              </c:extLst>
            </c:dLbl>
            <c:dLbl>
              <c:idx val="5"/>
              <c:layout>
                <c:manualLayout>
                  <c:x val="-5.7734759721514692E-2"/>
                  <c:y val="-6.01851851851852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6B2-46D4-A3D2-AF6D59155FD0}"/>
                </c:ext>
              </c:extLst>
            </c:dLbl>
            <c:dLbl>
              <c:idx val="6"/>
              <c:layout>
                <c:manualLayout>
                  <c:x val="-8.6602139582272031E-2"/>
                  <c:y val="-1.388888888888893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>
                      <a:defRPr lang="en-US"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6C69781-0261-4E55-B51E-9C4D70711ED1}" type="VALUE">
                      <a:rPr lang="en-US"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rPr>
                      <a:pPr algn="ctr">
                        <a:defRPr lang="en-US"/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16B2-46D4-A3D2-AF6D59155FD0}"/>
                </c:ext>
              </c:extLst>
            </c:dLbl>
            <c:dLbl>
              <c:idx val="7"/>
              <c:layout>
                <c:manualLayout>
                  <c:x val="-7.9809814909152788E-2"/>
                  <c:y val="-4.166666666666666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08414F50-F6F2-4AF3-83E6-01C5659333D0}" type="VALUE">
                      <a:rPr lang="en-US" b="0">
                        <a:solidFill>
                          <a:sysClr val="windowText" lastClr="000000"/>
                        </a:solidFill>
                      </a:rPr>
                      <a:pPr>
                        <a:defRPr>
                          <a:solidFill>
                            <a:sysClr val="windowText" lastClr="000000"/>
                          </a:solidFill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solidFill>
                    <a:schemeClr val="bg2">
                      <a:alpha val="98000"/>
                    </a:schemeClr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16B2-46D4-A3D2-AF6D59155FD0}"/>
                </c:ext>
              </c:extLst>
            </c:dLbl>
            <c:dLbl>
              <c:idx val="8"/>
              <c:layout>
                <c:manualLayout>
                  <c:x val="-5.773475972151481E-2"/>
                  <c:y val="-4.166666666666666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8AE810C-146E-49D3-A539-ABBCE151416F}" type="VALUE">
                      <a:rPr lang="en-US" b="1">
                        <a:solidFill>
                          <a:sysClr val="windowText" lastClr="000000"/>
                        </a:solidFill>
                      </a:rPr>
                      <a:pPr>
                        <a:defRPr b="1">
                          <a:solidFill>
                            <a:sysClr val="windowText" lastClr="000000"/>
                          </a:solidFill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16B2-46D4-A3D2-AF6D59155FD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'Revenues&amp;Incomes'!$C$34:$K$34</c:f>
              <c:numCache>
                <c:formatCode>General</c:formatCode>
                <c:ptCount val="9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</c:numCache>
            </c:numRef>
          </c:cat>
          <c:val>
            <c:numRef>
              <c:f>'Revenues&amp;Incomes'!$C$35:$K$35</c:f>
              <c:numCache>
                <c:formatCode>_-* #,##0.00\ [$₾-437]_-;\-* #,##0.00\ [$₾-437]_-;_-* "-"??\ [$₾-437]_-;_-@_-</c:formatCode>
                <c:ptCount val="9"/>
                <c:pt idx="0">
                  <c:v>54.299049420159967</c:v>
                </c:pt>
                <c:pt idx="1">
                  <c:v>67.616414362804463</c:v>
                </c:pt>
                <c:pt idx="2">
                  <c:v>69.931014533898932</c:v>
                </c:pt>
                <c:pt idx="3">
                  <c:v>39.318503844655169</c:v>
                </c:pt>
                <c:pt idx="4">
                  <c:v>41.61021594095785</c:v>
                </c:pt>
                <c:pt idx="5">
                  <c:v>86.593875543155875</c:v>
                </c:pt>
                <c:pt idx="6">
                  <c:v>129.53893414130221</c:v>
                </c:pt>
                <c:pt idx="7">
                  <c:v>144.06264899031876</c:v>
                </c:pt>
                <c:pt idx="8">
                  <c:v>160.89063088176411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16B2-46D4-A3D2-AF6D59155F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1316959"/>
        <c:axId val="2071313631"/>
      </c:lineChart>
      <c:catAx>
        <c:axId val="2071316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1313631"/>
        <c:crosses val="autoZero"/>
        <c:auto val="1"/>
        <c:lblAlgn val="ctr"/>
        <c:lblOffset val="100"/>
        <c:noMultiLvlLbl val="0"/>
      </c:catAx>
      <c:valAx>
        <c:axId val="2071313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.00\ [$₾-437]_-;\-* #,##0.00\ [$₾-437]_-;_-* &quot;-&quot;??\ [$₾-437]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1316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pct30">
      <a:fgClr>
        <a:schemeClr val="accent6">
          <a:lumMod val="20000"/>
          <a:lumOff val="80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800" b="1" i="0" u="none" strike="noStrike" baseline="0">
                <a:solidFill>
                  <a:srgbClr val="000000"/>
                </a:solidFill>
                <a:latin typeface="Sylfaen"/>
              </a:rPr>
              <a:t>გაყიდვები (საცხოვრებელი) რ-ბა</a:t>
            </a: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8278721936294662E-2"/>
          <c:y val="0.18918072184410553"/>
          <c:w val="0.85941722837561074"/>
          <c:h val="0.629137376422077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Charts!$B$5</c:f>
              <c:strCache>
                <c:ptCount val="1"/>
                <c:pt idx="0">
                  <c:v>გაყიდვები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Charts!$D$3:$O$3</c:f>
              <c:numCache>
                <c:formatCode>[$-409]mmm\-yy;@</c:formatCode>
                <c:ptCount val="12"/>
                <c:pt idx="0">
                  <c:v>45688</c:v>
                </c:pt>
                <c:pt idx="1">
                  <c:v>45716</c:v>
                </c:pt>
                <c:pt idx="2">
                  <c:v>45747</c:v>
                </c:pt>
                <c:pt idx="3">
                  <c:v>45777</c:v>
                </c:pt>
                <c:pt idx="4">
                  <c:v>45808</c:v>
                </c:pt>
                <c:pt idx="5">
                  <c:v>45838</c:v>
                </c:pt>
                <c:pt idx="6">
                  <c:v>45869</c:v>
                </c:pt>
                <c:pt idx="7">
                  <c:v>45900</c:v>
                </c:pt>
                <c:pt idx="8">
                  <c:v>45930</c:v>
                </c:pt>
                <c:pt idx="9">
                  <c:v>45961</c:v>
                </c:pt>
                <c:pt idx="10">
                  <c:v>45991</c:v>
                </c:pt>
                <c:pt idx="11">
                  <c:v>46022</c:v>
                </c:pt>
              </c:numCache>
            </c:numRef>
          </c:cat>
          <c:val>
            <c:numRef>
              <c:f>Charts!$D$5:$O$5</c:f>
              <c:numCache>
                <c:formatCode>General</c:formatCode>
                <c:ptCount val="12"/>
                <c:pt idx="0">
                  <c:v>18</c:v>
                </c:pt>
                <c:pt idx="1">
                  <c:v>35</c:v>
                </c:pt>
                <c:pt idx="2">
                  <c:v>26</c:v>
                </c:pt>
                <c:pt idx="3">
                  <c:v>25</c:v>
                </c:pt>
                <c:pt idx="4">
                  <c:v>40</c:v>
                </c:pt>
                <c:pt idx="5">
                  <c:v>19</c:v>
                </c:pt>
                <c:pt idx="6">
                  <c:v>23</c:v>
                </c:pt>
                <c:pt idx="7">
                  <c:v>19</c:v>
                </c:pt>
                <c:pt idx="8">
                  <c:v>27</c:v>
                </c:pt>
                <c:pt idx="9">
                  <c:v>32</c:v>
                </c:pt>
                <c:pt idx="10">
                  <c:v>23</c:v>
                </c:pt>
                <c:pt idx="1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3E-4DC8-9CC1-1C21475AF4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00926256"/>
        <c:axId val="1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Charts!$B$6</c15:sqref>
                        </c15:formulaRef>
                      </c:ext>
                    </c:extLst>
                    <c:strCache>
                      <c:ptCount val="1"/>
                      <c:pt idx="0">
                        <c:v>სტოკი</c:v>
                      </c:pt>
                    </c:strCache>
                  </c:strRef>
                </c:tx>
                <c:spPr>
                  <a:solidFill>
                    <a:schemeClr val="accent6">
                      <a:lumMod val="40000"/>
                      <a:lumOff val="60000"/>
                    </a:schemeClr>
                  </a:solidFill>
                  <a:effectLst/>
                </c:spPr>
                <c:invertIfNegative val="0"/>
                <c:dLbls>
                  <c:dLbl>
                    <c:idx val="1"/>
                    <c:layout>
                      <c:manualLayout>
                        <c:x val="-2.0871434868797559E-2"/>
                        <c:y val="1.5900723395272702E-2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B-493E-4DC8-9CC1-1C21475AF44E}"/>
                      </c:ext>
                    </c:extLst>
                  </c:dLbl>
                  <c:dLbl>
                    <c:idx val="2"/>
                    <c:layout>
                      <c:manualLayout>
                        <c:x val="0"/>
                        <c:y val="6.3602893581089642E-3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C-493E-4DC8-9CC1-1C21475AF44E}"/>
                      </c:ext>
                    </c:extLst>
                  </c:dLbl>
                  <c:dLbl>
                    <c:idx val="3"/>
                    <c:layout>
                      <c:manualLayout>
                        <c:x val="6.4219799596300182E-3"/>
                        <c:y val="3.1801446790545407E-3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D-493E-4DC8-9CC1-1C21475AF44E}"/>
                      </c:ext>
                    </c:extLst>
                  </c:dLbl>
                  <c:dLbl>
                    <c:idx val="6"/>
                    <c:layout>
                      <c:manualLayout>
                        <c:x val="-1.444945490916754E-2"/>
                        <c:y val="1.2720578716218104E-2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E-493E-4DC8-9CC1-1C21475AF44E}"/>
                      </c:ext>
                    </c:extLst>
                  </c:dLbl>
                  <c:spPr>
                    <a:noFill/>
                    <a:ln w="25400">
                      <a:noFill/>
                    </a:ln>
                  </c:spPr>
                  <c:txPr>
                    <a:bodyPr wrap="square" lIns="38100" tIns="19050" rIns="38100" bIns="19050" anchor="ctr">
                      <a:spAutoFit/>
                    </a:bodyPr>
                    <a:lstStyle/>
                    <a:p>
                      <a:pPr>
                        <a:defRPr sz="1000" b="0" i="0" u="none" strike="noStrike" baseline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0"/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Charts!$D$3:$O$3</c15:sqref>
                        </c15:formulaRef>
                      </c:ext>
                    </c:extLst>
                    <c:numCache>
                      <c:formatCode>[$-409]mmm\-yy;@</c:formatCode>
                      <c:ptCount val="12"/>
                      <c:pt idx="0">
                        <c:v>45688</c:v>
                      </c:pt>
                      <c:pt idx="1">
                        <c:v>45716</c:v>
                      </c:pt>
                      <c:pt idx="2">
                        <c:v>45747</c:v>
                      </c:pt>
                      <c:pt idx="3">
                        <c:v>45777</c:v>
                      </c:pt>
                      <c:pt idx="4">
                        <c:v>45808</c:v>
                      </c:pt>
                      <c:pt idx="5">
                        <c:v>45838</c:v>
                      </c:pt>
                      <c:pt idx="6">
                        <c:v>45869</c:v>
                      </c:pt>
                      <c:pt idx="7">
                        <c:v>45900</c:v>
                      </c:pt>
                      <c:pt idx="8">
                        <c:v>45930</c:v>
                      </c:pt>
                      <c:pt idx="9">
                        <c:v>45961</c:v>
                      </c:pt>
                      <c:pt idx="10">
                        <c:v>45991</c:v>
                      </c:pt>
                      <c:pt idx="11">
                        <c:v>46022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Charts!$D$6:$O$6</c15:sqref>
                        </c15:formulaRef>
                      </c:ext>
                    </c:extLst>
                    <c:numCache>
                      <c:formatCode>General</c:formatCode>
                      <c:ptCount val="12"/>
                      <c:pt idx="0">
                        <c:v>314</c:v>
                      </c:pt>
                      <c:pt idx="1">
                        <c:v>296</c:v>
                      </c:pt>
                      <c:pt idx="2">
                        <c:v>281</c:v>
                      </c:pt>
                      <c:pt idx="3">
                        <c:v>255</c:v>
                      </c:pt>
                      <c:pt idx="4">
                        <c:v>230</c:v>
                      </c:pt>
                      <c:pt idx="5">
                        <c:v>316</c:v>
                      </c:pt>
                      <c:pt idx="6">
                        <c:v>297</c:v>
                      </c:pt>
                      <c:pt idx="7">
                        <c:v>296</c:v>
                      </c:pt>
                      <c:pt idx="8">
                        <c:v>321</c:v>
                      </c:pt>
                      <c:pt idx="9">
                        <c:v>294</c:v>
                      </c:pt>
                      <c:pt idx="10">
                        <c:v>262</c:v>
                      </c:pt>
                      <c:pt idx="11">
                        <c:v>239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F-493E-4DC8-9CC1-1C21475AF44E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Charts!$B$7</c:f>
              <c:strCache>
                <c:ptCount val="1"/>
                <c:pt idx="0">
                  <c:v>%</c:v>
                </c:pt>
              </c:strCache>
            </c:strRef>
          </c:tx>
          <c:spPr>
            <a:ln w="3492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pPr>
              <a:ln>
                <a:solidFill>
                  <a:schemeClr val="accent2">
                    <a:lumMod val="75000"/>
                  </a:schemeClr>
                </a:solidFill>
              </a:ln>
            </c:spPr>
          </c:marker>
          <c:dLbls>
            <c:dLbl>
              <c:idx val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493E-4DC8-9CC1-1C21475AF44E}"/>
                </c:ext>
              </c:extLst>
            </c:dLbl>
            <c:dLbl>
              <c:idx val="1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493E-4DC8-9CC1-1C21475AF44E}"/>
                </c:ext>
              </c:extLst>
            </c:dLbl>
            <c:dLbl>
              <c:idx val="2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493E-4DC8-9CC1-1C21475AF44E}"/>
                </c:ext>
              </c:extLst>
            </c:dLbl>
            <c:dLbl>
              <c:idx val="3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493E-4DC8-9CC1-1C21475AF44E}"/>
                </c:ext>
              </c:extLst>
            </c:dLbl>
            <c:dLbl>
              <c:idx val="4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493E-4DC8-9CC1-1C21475AF44E}"/>
                </c:ext>
              </c:extLst>
            </c:dLbl>
            <c:dLbl>
              <c:idx val="5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493E-4DC8-9CC1-1C21475AF44E}"/>
                </c:ext>
              </c:extLst>
            </c:dLbl>
            <c:dLbl>
              <c:idx val="8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493E-4DC8-9CC1-1C21475AF44E}"/>
                </c:ext>
              </c:extLst>
            </c:dLbl>
            <c:dLbl>
              <c:idx val="9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493E-4DC8-9CC1-1C21475AF44E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fld id="{5D79EE79-4E24-469D-AD04-99B3C84A16B8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493E-4DC8-9CC1-1C21475AF44E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 baseline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Charts!$D$3:$O$3</c:f>
              <c:numCache>
                <c:formatCode>[$-409]mmm\-yy;@</c:formatCode>
                <c:ptCount val="12"/>
                <c:pt idx="0">
                  <c:v>45688</c:v>
                </c:pt>
                <c:pt idx="1">
                  <c:v>45716</c:v>
                </c:pt>
                <c:pt idx="2">
                  <c:v>45747</c:v>
                </c:pt>
                <c:pt idx="3">
                  <c:v>45777</c:v>
                </c:pt>
                <c:pt idx="4">
                  <c:v>45808</c:v>
                </c:pt>
                <c:pt idx="5">
                  <c:v>45838</c:v>
                </c:pt>
                <c:pt idx="6">
                  <c:v>45869</c:v>
                </c:pt>
                <c:pt idx="7">
                  <c:v>45900</c:v>
                </c:pt>
                <c:pt idx="8">
                  <c:v>45930</c:v>
                </c:pt>
                <c:pt idx="9">
                  <c:v>45961</c:v>
                </c:pt>
                <c:pt idx="10">
                  <c:v>45991</c:v>
                </c:pt>
                <c:pt idx="11">
                  <c:v>46022</c:v>
                </c:pt>
              </c:numCache>
            </c:numRef>
          </c:cat>
          <c:val>
            <c:numRef>
              <c:f>Charts!$D$7:$O$7</c:f>
              <c:numCache>
                <c:formatCode>0%</c:formatCode>
                <c:ptCount val="12"/>
                <c:pt idx="0">
                  <c:v>5.7324840764331211E-2</c:v>
                </c:pt>
                <c:pt idx="1">
                  <c:v>0.11824324324324324</c:v>
                </c:pt>
                <c:pt idx="2">
                  <c:v>9.2526690391459068E-2</c:v>
                </c:pt>
                <c:pt idx="3">
                  <c:v>9.8039215686274508E-2</c:v>
                </c:pt>
                <c:pt idx="4">
                  <c:v>0.17391304347826086</c:v>
                </c:pt>
                <c:pt idx="5">
                  <c:v>6.0126582278481014E-2</c:v>
                </c:pt>
                <c:pt idx="6">
                  <c:v>7.7441077441077436E-2</c:v>
                </c:pt>
                <c:pt idx="7">
                  <c:v>6.4189189189189186E-2</c:v>
                </c:pt>
                <c:pt idx="8">
                  <c:v>8.4112149532710276E-2</c:v>
                </c:pt>
                <c:pt idx="9">
                  <c:v>0.10884353741496598</c:v>
                </c:pt>
                <c:pt idx="10">
                  <c:v>8.7786259541984726E-2</c:v>
                </c:pt>
                <c:pt idx="11">
                  <c:v>0.10460251046025104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493E-4DC8-9CC1-1C21475AF4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5801439"/>
        <c:axId val="1005806239"/>
      </c:lineChart>
      <c:dateAx>
        <c:axId val="400926256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00926256"/>
        <c:crosses val="autoZero"/>
        <c:crossBetween val="between"/>
      </c:valAx>
      <c:valAx>
        <c:axId val="1005806239"/>
        <c:scaling>
          <c:orientation val="minMax"/>
          <c:max val="0.30000000000000004"/>
        </c:scaling>
        <c:delete val="0"/>
        <c:axPos val="r"/>
        <c:numFmt formatCode="0%" sourceLinked="1"/>
        <c:majorTickMark val="out"/>
        <c:minorTickMark val="none"/>
        <c:tickLblPos val="nextTo"/>
        <c:crossAx val="1005801439"/>
        <c:crosses val="max"/>
        <c:crossBetween val="between"/>
      </c:valAx>
      <c:dateAx>
        <c:axId val="1005801439"/>
        <c:scaling>
          <c:orientation val="minMax"/>
        </c:scaling>
        <c:delete val="1"/>
        <c:axPos val="b"/>
        <c:numFmt formatCode="[$-409]mmm\-yy;@" sourceLinked="1"/>
        <c:majorTickMark val="out"/>
        <c:minorTickMark val="none"/>
        <c:tickLblPos val="nextTo"/>
        <c:crossAx val="1005806239"/>
        <c:crosses val="autoZero"/>
        <c:auto val="1"/>
        <c:lblOffset val="100"/>
        <c:baseTimeUnit val="months"/>
        <c:majorUnit val="1"/>
        <c:minorUnit val="1"/>
      </c:dateAx>
      <c:spPr>
        <a:noFill/>
        <a:ln w="25400">
          <a:noFill/>
        </a:ln>
      </c:spPr>
    </c:plotArea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800" b="1" i="0" u="none" strike="noStrike" baseline="0">
                <a:solidFill>
                  <a:srgbClr val="000000"/>
                </a:solidFill>
                <a:latin typeface="Sylfaen"/>
              </a:rPr>
              <a:t>საცხოვრებელის საშუალო გასაყიდი ფასი</a:t>
            </a: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1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1744300971859661"/>
          <c:y val="0.19795275590551178"/>
          <c:w val="0.86501214907178725"/>
          <c:h val="0.62036538195883406"/>
        </c:manualLayout>
      </c:layout>
      <c:lineChart>
        <c:grouping val="standard"/>
        <c:varyColors val="0"/>
        <c:ser>
          <c:idx val="0"/>
          <c:order val="0"/>
          <c:tx>
            <c:strRef>
              <c:f>Charts!$B$67</c:f>
              <c:strCache>
                <c:ptCount val="1"/>
                <c:pt idx="0">
                  <c:v>სამგორი</c:v>
                </c:pt>
              </c:strCache>
            </c:strRef>
          </c:tx>
          <c:marker>
            <c:symbol val="diamond"/>
            <c:size val="6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Charts!$C$66:$O$66</c:f>
              <c:numCache>
                <c:formatCode>[$-409]mmm\-yy;@</c:formatCode>
                <c:ptCount val="13"/>
                <c:pt idx="0">
                  <c:v>45657</c:v>
                </c:pt>
                <c:pt idx="1">
                  <c:v>45688</c:v>
                </c:pt>
                <c:pt idx="2">
                  <c:v>45716</c:v>
                </c:pt>
                <c:pt idx="3">
                  <c:v>45747</c:v>
                </c:pt>
                <c:pt idx="4">
                  <c:v>45777</c:v>
                </c:pt>
                <c:pt idx="5">
                  <c:v>45808</c:v>
                </c:pt>
                <c:pt idx="6">
                  <c:v>45838</c:v>
                </c:pt>
                <c:pt idx="7">
                  <c:v>45869</c:v>
                </c:pt>
                <c:pt idx="8">
                  <c:v>45900</c:v>
                </c:pt>
                <c:pt idx="9">
                  <c:v>45930</c:v>
                </c:pt>
                <c:pt idx="10">
                  <c:v>45961</c:v>
                </c:pt>
                <c:pt idx="11">
                  <c:v>45991</c:v>
                </c:pt>
                <c:pt idx="12">
                  <c:v>46022</c:v>
                </c:pt>
              </c:numCache>
            </c:numRef>
          </c:cat>
          <c:val>
            <c:numRef>
              <c:f>Charts!$C$67:$O$67</c:f>
              <c:numCache>
                <c:formatCode>_([$$-409]* #,##0_);_([$$-409]* \(#,##0\);_([$$-409]* "-"??_);_(@_)</c:formatCode>
                <c:ptCount val="13"/>
                <c:pt idx="0">
                  <c:v>1125.8176382660688</c:v>
                </c:pt>
                <c:pt idx="1">
                  <c:v>1183.0748274609518</c:v>
                </c:pt>
                <c:pt idx="2">
                  <c:v>1212.5950380152065</c:v>
                </c:pt>
                <c:pt idx="3">
                  <c:v>1089.7818946261989</c:v>
                </c:pt>
                <c:pt idx="4">
                  <c:v>1165.7038741848869</c:v>
                </c:pt>
                <c:pt idx="5">
                  <c:v>1183.6239889524561</c:v>
                </c:pt>
                <c:pt idx="6">
                  <c:v>1161.4155906264943</c:v>
                </c:pt>
                <c:pt idx="7">
                  <c:v>1200.0838524197413</c:v>
                </c:pt>
                <c:pt idx="8">
                  <c:v>1295.2388059701493</c:v>
                </c:pt>
                <c:pt idx="9">
                  <c:v>1215.5237280889269</c:v>
                </c:pt>
                <c:pt idx="10">
                  <c:v>1203.3055770720373</c:v>
                </c:pt>
                <c:pt idx="11">
                  <c:v>1489.6006655574045</c:v>
                </c:pt>
                <c:pt idx="12">
                  <c:v>1230.4493351673545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FC-4656-A2E4-895964BFFA82}"/>
            </c:ext>
          </c:extLst>
        </c:ser>
        <c:ser>
          <c:idx val="1"/>
          <c:order val="1"/>
          <c:tx>
            <c:strRef>
              <c:f>Charts!$B$68</c:f>
              <c:strCache>
                <c:ptCount val="1"/>
                <c:pt idx="0">
                  <c:v>ლისი</c:v>
                </c:pt>
              </c:strCache>
            </c:strRef>
          </c:tx>
          <c:marker>
            <c:symbol val="square"/>
            <c:size val="6"/>
          </c:marker>
          <c:dLbls>
            <c:dLbl>
              <c:idx val="11"/>
              <c:layout>
                <c:manualLayout>
                  <c:x val="-2.7683308008937205E-2"/>
                  <c:y val="0.1124892501242338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EFC-4656-A2E4-895964BFFA82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Charts!$C$66:$O$66</c:f>
              <c:numCache>
                <c:formatCode>[$-409]mmm\-yy;@</c:formatCode>
                <c:ptCount val="13"/>
                <c:pt idx="0">
                  <c:v>45657</c:v>
                </c:pt>
                <c:pt idx="1">
                  <c:v>45688</c:v>
                </c:pt>
                <c:pt idx="2">
                  <c:v>45716</c:v>
                </c:pt>
                <c:pt idx="3">
                  <c:v>45747</c:v>
                </c:pt>
                <c:pt idx="4">
                  <c:v>45777</c:v>
                </c:pt>
                <c:pt idx="5">
                  <c:v>45808</c:v>
                </c:pt>
                <c:pt idx="6">
                  <c:v>45838</c:v>
                </c:pt>
                <c:pt idx="7">
                  <c:v>45869</c:v>
                </c:pt>
                <c:pt idx="8">
                  <c:v>45900</c:v>
                </c:pt>
                <c:pt idx="9">
                  <c:v>45930</c:v>
                </c:pt>
                <c:pt idx="10">
                  <c:v>45961</c:v>
                </c:pt>
                <c:pt idx="11">
                  <c:v>45991</c:v>
                </c:pt>
                <c:pt idx="12">
                  <c:v>46022</c:v>
                </c:pt>
              </c:numCache>
            </c:numRef>
          </c:cat>
          <c:val>
            <c:numRef>
              <c:f>Charts!$C$68:$O$68</c:f>
              <c:numCache>
                <c:formatCode>_([$$-409]* #,##0_);_([$$-409]* \(#,##0\);_([$$-409]* "-"??_);_(@_)</c:formatCode>
                <c:ptCount val="13"/>
                <c:pt idx="0">
                  <c:v>1434.6619453924916</c:v>
                </c:pt>
                <c:pt idx="1">
                  <c:v>1434.6619453924916</c:v>
                </c:pt>
                <c:pt idx="2">
                  <c:v>1457.4894692502105</c:v>
                </c:pt>
                <c:pt idx="3">
                  <c:v>1431.6958887545345</c:v>
                </c:pt>
                <c:pt idx="4">
                  <c:v>1474.3965517241379</c:v>
                </c:pt>
                <c:pt idx="5">
                  <c:v>1454.7850678733032</c:v>
                </c:pt>
                <c:pt idx="6">
                  <c:v>1491.6257647565703</c:v>
                </c:pt>
                <c:pt idx="7">
                  <c:v>1518.9919617640671</c:v>
                </c:pt>
                <c:pt idx="8">
                  <c:v>1541.5762834417931</c:v>
                </c:pt>
                <c:pt idx="9">
                  <c:v>1514.5098458904113</c:v>
                </c:pt>
                <c:pt idx="10">
                  <c:v>1510.8588901879664</c:v>
                </c:pt>
                <c:pt idx="11">
                  <c:v>1473.8508170795994</c:v>
                </c:pt>
                <c:pt idx="12">
                  <c:v>1514.3363239015412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EFC-4656-A2E4-895964BFFA82}"/>
            </c:ext>
          </c:extLst>
        </c:ser>
        <c:ser>
          <c:idx val="2"/>
          <c:order val="2"/>
          <c:tx>
            <c:strRef>
              <c:f>Charts!$B$69</c:f>
              <c:strCache>
                <c:ptCount val="1"/>
                <c:pt idx="0">
                  <c:v>უნივერსიტეტი</c:v>
                </c:pt>
              </c:strCache>
            </c:strRef>
          </c:tx>
          <c:marker>
            <c:symbol val="triangle"/>
            <c:size val="6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Charts!$C$66:$O$66</c:f>
              <c:numCache>
                <c:formatCode>[$-409]mmm\-yy;@</c:formatCode>
                <c:ptCount val="13"/>
                <c:pt idx="0">
                  <c:v>45657</c:v>
                </c:pt>
                <c:pt idx="1">
                  <c:v>45688</c:v>
                </c:pt>
                <c:pt idx="2">
                  <c:v>45716</c:v>
                </c:pt>
                <c:pt idx="3">
                  <c:v>45747</c:v>
                </c:pt>
                <c:pt idx="4">
                  <c:v>45777</c:v>
                </c:pt>
                <c:pt idx="5">
                  <c:v>45808</c:v>
                </c:pt>
                <c:pt idx="6">
                  <c:v>45838</c:v>
                </c:pt>
                <c:pt idx="7">
                  <c:v>45869</c:v>
                </c:pt>
                <c:pt idx="8">
                  <c:v>45900</c:v>
                </c:pt>
                <c:pt idx="9">
                  <c:v>45930</c:v>
                </c:pt>
                <c:pt idx="10">
                  <c:v>45961</c:v>
                </c:pt>
                <c:pt idx="11">
                  <c:v>45991</c:v>
                </c:pt>
                <c:pt idx="12">
                  <c:v>46022</c:v>
                </c:pt>
              </c:numCache>
            </c:numRef>
          </c:cat>
          <c:val>
            <c:numRef>
              <c:f>Charts!$C$69:$O$69</c:f>
              <c:numCache>
                <c:formatCode>_([$$-409]* #,##0_);_([$$-409]* \(#,##0\);_([$$-409]* "-"??_);_(@_)</c:formatCode>
                <c:ptCount val="13"/>
                <c:pt idx="0">
                  <c:v>1629.151812240048</c:v>
                </c:pt>
                <c:pt idx="1">
                  <c:v>1580.1084430673893</c:v>
                </c:pt>
                <c:pt idx="2">
                  <c:v>1608.4264215735784</c:v>
                </c:pt>
                <c:pt idx="3">
                  <c:v>1664.9849548645939</c:v>
                </c:pt>
                <c:pt idx="4">
                  <c:v>1645.0407830342576</c:v>
                </c:pt>
                <c:pt idx="5">
                  <c:v>1675.2812293655077</c:v>
                </c:pt>
                <c:pt idx="6">
                  <c:v>1752.5914315569489</c:v>
                </c:pt>
                <c:pt idx="7">
                  <c:v>1792.6547406082291</c:v>
                </c:pt>
                <c:pt idx="8">
                  <c:v>1782.9373393951375</c:v>
                </c:pt>
                <c:pt idx="9">
                  <c:v>1812.1788919839057</c:v>
                </c:pt>
                <c:pt idx="10">
                  <c:v>1792.8824907934384</c:v>
                </c:pt>
                <c:pt idx="11">
                  <c:v>1792.3121573685905</c:v>
                </c:pt>
                <c:pt idx="12">
                  <c:v>1811.7527509544122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EFC-4656-A2E4-895964BFFA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0927896"/>
        <c:axId val="1"/>
      </c:lineChart>
      <c:dateAx>
        <c:axId val="400927896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  <c:min val="10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[$$-409]* #,##0_);_([$$-409]* \(#,##0\);_([$$-409]* &quot;-&quot;??_);_(@_)" sourceLinked="1"/>
        <c:majorTickMark val="out"/>
        <c:minorTickMark val="none"/>
        <c:tickLblPos val="nextTo"/>
        <c:crossAx val="400927896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3.3357295306239585E-4"/>
          <c:y val="0.28645833333333331"/>
          <c:w val="0.11836066186789471"/>
          <c:h val="0.20725324274637139"/>
        </c:manualLayout>
      </c:layout>
      <c:overlay val="0"/>
      <c:txPr>
        <a:bodyPr/>
        <a:lstStyle/>
        <a:p>
          <a:pPr>
            <a:defRPr sz="845" b="0" i="0" u="none" strike="noStrike" baseline="0">
              <a:solidFill>
                <a:srgbClr val="000000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7474664F-DF9C-48AA-9DA3-B342B4330C19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7FBDB7DB-900E-4B52-9FB8-B2AFF4AFA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802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136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184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184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917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7822-CBA1-46F9-A374-A93D96027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11B24-2CA9-4F56-89B9-DC5BEEA90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BB830-3A7C-4329-BE3A-AB992032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15B83-C84A-49FF-B14B-ADFAD7F93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11749-A2F2-4BF6-917E-129A3DCA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073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F580-D603-48DE-BC9E-0ECBB8D6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0DFF6-58D5-4F6A-BB3C-00FE0B107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961E7-AA43-4B18-B413-49663B59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72D45-D6F8-4FF8-9C81-543C7C87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33D74-A20C-43F1-8489-EB791A2F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60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94F1-98A6-424F-ACBF-69B3B425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4E914-4E1D-482B-8955-59EAE08EB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5D416-9079-4E8F-B903-0475623D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4B428-BC16-4F12-BF84-A87E4EEE7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508D6-80E8-43E2-86CA-17CC12BA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41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9BFD-8491-4337-895F-055D8B8C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4D6D-86D6-4256-B1ED-5C4046DDA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2283F-D1C9-488F-98C7-9482C36A2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D7CB-52C8-4CFD-91D9-38703114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11CAB-2F7D-4195-85D1-CF032B15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56BAC-8BC5-49DC-BB3D-CC375E35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6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728D-227A-497C-8586-43FB7C55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12795-4BBD-46F0-8657-F9E4917EF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AE11-9FAC-4E40-A8F3-2E314270E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1596B4-DC18-445A-AB26-E06BB23DE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501855-F87D-45FB-A775-854192D86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3ED49-4C7E-4FEC-9146-96211E69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0CBF1-3B8A-47D0-8ECA-D5BEF2E4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09073-3A48-4B72-98C3-AC319136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56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34B9-4EED-4C62-A766-01A8BD70A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B7CA7-EFA3-449E-AFA2-5E9D55EB0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896EE-F538-4B94-9645-D1D27E2C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4DC00-AC5A-4775-8C8E-D1116BFF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78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8C364-C428-4CF5-8B22-EC3FC101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7E623-597F-4FB9-BB9F-FB217AA8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BCA8D-F31A-4963-B60C-AE46B9FD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910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BBBA7-2C35-4FD8-95D4-3FD1CC08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CDFE6-6A96-471A-A950-376BE64A7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8CFC5-2B36-404D-9995-E40FA9E6B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68A62-07FF-47C5-BA10-112F9968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D2002-DB49-4807-835B-BE934E62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4DAD2-E391-4049-8A0E-2DDE8801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74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2844-AE3A-490C-B942-4FE39D1EF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1DE005-4F56-477D-9291-36FEF178A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A7C96-4636-4DE2-910D-2CC24A61B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07CDC-E1B8-4E87-875A-1597E2CA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07909-CF08-4C5E-9635-90521C81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A579A-B455-4190-BFCC-8A68113A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01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B54C-9DC1-4DBA-9DD8-F1FF174A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54357-6E72-473A-9633-CA05F9F31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7D0D7-D771-41D9-8E95-27B2A5267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3D86-2604-4B57-B4F2-8F3487E3F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1D0EA-36FD-496A-A565-373939FE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72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88324-B16F-4B82-8CF2-7F00BC7BF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E84B0-8CC5-41E6-8063-6FF872AB2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07E46-444D-48D5-8471-7A85A388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A9726-6875-4B72-AA1A-9F4633F8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777C-5357-49B9-9D7C-A5D85D56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28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F0123-14DA-456B-8FAC-F479E6CC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36AF2-A9E2-460D-9392-1BACE42F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A990A-F095-4A64-9063-223909F997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EB9D1-1B18-4065-9C7D-DADCFC0748DE}" type="datetimeFigureOut">
              <a:rPr lang="ru-RU" smtClean="0"/>
              <a:t>18.01.2026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64BF7-F44F-49E3-B61E-F00BAF6E1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C7962-996F-4425-AA85-177F32829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232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E16FE8B-92A4-4329-AEB3-A3165F4CC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3156" y="2798875"/>
            <a:ext cx="5405688" cy="1260249"/>
          </a:xfrm>
        </p:spPr>
        <p:txBody>
          <a:bodyPr>
            <a:normAutofit fontScale="90000"/>
          </a:bodyPr>
          <a:lstStyle/>
          <a:p>
            <a:r>
              <a:rPr lang="en-US" dirty="0"/>
              <a:t>2025 </a:t>
            </a:r>
            <a:r>
              <a:rPr lang="ka-GE" dirty="0"/>
              <a:t>წლის მიმოხილვა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300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20B420F7-0A29-4717-B0CD-E6E2E6818B71}"/>
              </a:ext>
            </a:extLst>
          </p:cNvPr>
          <p:cNvSpPr txBox="1">
            <a:spLocks/>
          </p:cNvSpPr>
          <p:nvPr/>
        </p:nvSpPr>
        <p:spPr>
          <a:xfrm>
            <a:off x="3568959" y="143338"/>
            <a:ext cx="5054082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დაგეგმილი და რეალური ბიუჯეტი</a:t>
            </a:r>
            <a:endParaRPr lang="en-US" sz="2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87B176-701A-4128-9A31-3358B96D446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31.12.2025</a:t>
            </a:r>
            <a:endParaRPr lang="ru-RU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448268-C5B4-B5B6-5E21-323B5E65F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4247"/>
            <a:ext cx="12192000" cy="444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46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87B176-701A-4128-9A31-3358B96D446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31.12.2025</a:t>
            </a:r>
            <a:endParaRPr lang="ru-RU" sz="1200" dirty="0"/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3CB7D76B-7C89-AF70-736F-57DA77BB3D5A}"/>
              </a:ext>
            </a:extLst>
          </p:cNvPr>
          <p:cNvSpPr txBox="1">
            <a:spLocks/>
          </p:cNvSpPr>
          <p:nvPr/>
        </p:nvSpPr>
        <p:spPr>
          <a:xfrm>
            <a:off x="3951051" y="226889"/>
            <a:ext cx="4289898" cy="3780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400" b="1" dirty="0"/>
              <a:t>შემოსავლები</a:t>
            </a:r>
            <a:r>
              <a:rPr lang="en-US" sz="2400" b="1" dirty="0"/>
              <a:t> (</a:t>
            </a:r>
            <a:r>
              <a:rPr lang="ka-GE" sz="2400" b="1" dirty="0"/>
              <a:t>მლნ. ლარი)</a:t>
            </a:r>
            <a:endParaRPr lang="en-US" sz="2400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D9E8A28-1AD8-4B76-8A97-19EB32B104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3329424"/>
              </p:ext>
            </p:extLst>
          </p:nvPr>
        </p:nvGraphicFramePr>
        <p:xfrm>
          <a:off x="627483" y="937726"/>
          <a:ext cx="10937033" cy="4982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09243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5B8B8B98-5B7D-3C21-CB9A-54A55AAE7F74}"/>
              </a:ext>
            </a:extLst>
          </p:cNvPr>
          <p:cNvSpPr txBox="1">
            <a:spLocks/>
          </p:cNvSpPr>
          <p:nvPr/>
        </p:nvSpPr>
        <p:spPr>
          <a:xfrm>
            <a:off x="3692013" y="143338"/>
            <a:ext cx="4807974" cy="4264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შემოსავლების</a:t>
            </a:r>
            <a:r>
              <a:rPr lang="en-US" sz="2000" b="1" dirty="0"/>
              <a:t> </a:t>
            </a:r>
            <a:r>
              <a:rPr lang="ka-GE" sz="2000" b="1" dirty="0"/>
              <a:t>და მოგების სტრუქტურა</a:t>
            </a:r>
            <a:endParaRPr lang="en-US" sz="2000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22435B-1202-816F-3D27-A59D837BA219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31.12.2025</a:t>
            </a:r>
            <a:endParaRPr lang="ru-RU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D1C29A-5659-CBEE-6F65-9CC210994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9" y="648467"/>
            <a:ext cx="10898121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11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20B420F7-0A29-4717-B0CD-E6E2E6818B71}"/>
              </a:ext>
            </a:extLst>
          </p:cNvPr>
          <p:cNvSpPr txBox="1">
            <a:spLocks/>
          </p:cNvSpPr>
          <p:nvPr/>
        </p:nvSpPr>
        <p:spPr>
          <a:xfrm>
            <a:off x="4553079" y="135698"/>
            <a:ext cx="3085841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გაყიდვების სტატისტიკა</a:t>
            </a:r>
            <a:endParaRPr lang="en-US" sz="2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87B176-701A-4128-9A31-3358B96D446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31.12.2025</a:t>
            </a:r>
            <a:endParaRPr lang="ru-RU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0A235D-2504-CC68-70A7-6327000C8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1" y="863708"/>
            <a:ext cx="8246434" cy="12875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90C011-6900-98E1-896F-E0B638980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483" y="759645"/>
            <a:ext cx="3448531" cy="1495634"/>
          </a:xfrm>
          <a:prstGeom prst="rect">
            <a:avLst/>
          </a:prstGeom>
        </p:spPr>
      </p:pic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00000000-0008-0000-0100-00008A54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095317"/>
              </p:ext>
            </p:extLst>
          </p:nvPr>
        </p:nvGraphicFramePr>
        <p:xfrm>
          <a:off x="1525189" y="2925147"/>
          <a:ext cx="9141619" cy="288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50525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87B176-701A-4128-9A31-3358B96D446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31.12.2025</a:t>
            </a:r>
            <a:endParaRPr lang="ru-RU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EBFD98-7A52-F159-2479-131917604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27" y="4471408"/>
            <a:ext cx="1400372" cy="1000265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0000000-0008-0000-0100-00008C54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2506621"/>
              </p:ext>
            </p:extLst>
          </p:nvPr>
        </p:nvGraphicFramePr>
        <p:xfrm>
          <a:off x="365203" y="411480"/>
          <a:ext cx="11260737" cy="317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9D544A8C-1530-542F-BBD8-5A9417E39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8331" y="4182099"/>
            <a:ext cx="2827521" cy="126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85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5">
            <a:extLst>
              <a:ext uri="{FF2B5EF4-FFF2-40B4-BE49-F238E27FC236}">
                <a16:creationId xmlns:a16="http://schemas.microsoft.com/office/drawing/2014/main" id="{D5F5962F-EEDA-B4DB-E169-BAA9F65B5281}"/>
              </a:ext>
            </a:extLst>
          </p:cNvPr>
          <p:cNvSpPr txBox="1">
            <a:spLocks/>
          </p:cNvSpPr>
          <p:nvPr/>
        </p:nvSpPr>
        <p:spPr>
          <a:xfrm>
            <a:off x="3956572" y="149370"/>
            <a:ext cx="4278855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/>
              <a:t>კომერციულების გაყიდვა ჯიქიაზე</a:t>
            </a:r>
            <a:endParaRPr lang="en-US" sz="2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D87F09B-D35E-844C-7ECA-CE88CBE80D20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</a:t>
            </a:r>
            <a:r>
              <a:rPr lang="en-US" sz="1200" dirty="0"/>
              <a:t> 31.12.2025</a:t>
            </a:r>
            <a:r>
              <a:rPr lang="ka-GE" sz="1200" dirty="0"/>
              <a:t> </a:t>
            </a:r>
            <a:endParaRPr lang="ru-RU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D8AE0F-D016-16F5-901D-DF3AE28DD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863" y="1338165"/>
            <a:ext cx="8852273" cy="418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01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E16B6B-1796-3C32-157A-4CEF6E9B8C90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31.12.2025</a:t>
            </a:r>
            <a:endParaRPr lang="ru-RU" sz="1200" dirty="0"/>
          </a:p>
        </p:txBody>
      </p:sp>
      <p:sp>
        <p:nvSpPr>
          <p:cNvPr id="7" name="Subtitle 5">
            <a:extLst>
              <a:ext uri="{FF2B5EF4-FFF2-40B4-BE49-F238E27FC236}">
                <a16:creationId xmlns:a16="http://schemas.microsoft.com/office/drawing/2014/main" id="{D9E88D9F-99F6-B951-6DC5-348017F7B608}"/>
              </a:ext>
            </a:extLst>
          </p:cNvPr>
          <p:cNvSpPr txBox="1">
            <a:spLocks/>
          </p:cNvSpPr>
          <p:nvPr/>
        </p:nvSpPr>
        <p:spPr>
          <a:xfrm>
            <a:off x="4574157" y="107465"/>
            <a:ext cx="3043684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მიმდინარე პროექტები</a:t>
            </a:r>
            <a:endParaRPr lang="en-US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194A49-8326-C3E7-B731-7BA8CFFF3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97" y="475838"/>
            <a:ext cx="11688806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614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E16B6B-1796-3C32-157A-4CEF6E9B8C90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31.12.2025</a:t>
            </a:r>
            <a:endParaRPr lang="ru-RU" sz="1200" dirty="0"/>
          </a:p>
        </p:txBody>
      </p:sp>
      <p:sp>
        <p:nvSpPr>
          <p:cNvPr id="7" name="Subtitle 5">
            <a:extLst>
              <a:ext uri="{FF2B5EF4-FFF2-40B4-BE49-F238E27FC236}">
                <a16:creationId xmlns:a16="http://schemas.microsoft.com/office/drawing/2014/main" id="{D9E88D9F-99F6-B951-6DC5-348017F7B608}"/>
              </a:ext>
            </a:extLst>
          </p:cNvPr>
          <p:cNvSpPr txBox="1">
            <a:spLocks/>
          </p:cNvSpPr>
          <p:nvPr/>
        </p:nvSpPr>
        <p:spPr>
          <a:xfrm>
            <a:off x="4574157" y="107465"/>
            <a:ext cx="3043684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/>
              <a:t>მიმდინარე პროექტები</a:t>
            </a:r>
            <a:endParaRPr lang="en-US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7DEF4-B6F2-60BF-1195-40ACD1C7E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7" y="694943"/>
            <a:ext cx="11412543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359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E16B6B-1796-3C32-157A-4CEF6E9B8C90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31.12.2025</a:t>
            </a:r>
            <a:endParaRPr lang="ru-RU" sz="1200" dirty="0"/>
          </a:p>
        </p:txBody>
      </p:sp>
      <p:sp>
        <p:nvSpPr>
          <p:cNvPr id="7" name="Subtitle 5">
            <a:extLst>
              <a:ext uri="{FF2B5EF4-FFF2-40B4-BE49-F238E27FC236}">
                <a16:creationId xmlns:a16="http://schemas.microsoft.com/office/drawing/2014/main" id="{D9E88D9F-99F6-B951-6DC5-348017F7B608}"/>
              </a:ext>
            </a:extLst>
          </p:cNvPr>
          <p:cNvSpPr txBox="1">
            <a:spLocks/>
          </p:cNvSpPr>
          <p:nvPr/>
        </p:nvSpPr>
        <p:spPr>
          <a:xfrm>
            <a:off x="4574157" y="107465"/>
            <a:ext cx="3043684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მიმდინარე პროექტები</a:t>
            </a:r>
            <a:endParaRPr lang="en-US" sz="2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C686DB-0C1C-7527-E58C-AB7DD1A76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7" y="737812"/>
            <a:ext cx="11383964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66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CBBDC-E8B4-79E1-09E4-30A80E6CB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AB8067F1-09BF-6F30-B1B3-55CFEED573C5}"/>
              </a:ext>
            </a:extLst>
          </p:cNvPr>
          <p:cNvSpPr txBox="1">
            <a:spLocks/>
          </p:cNvSpPr>
          <p:nvPr/>
        </p:nvSpPr>
        <p:spPr>
          <a:xfrm>
            <a:off x="4315755" y="107466"/>
            <a:ext cx="3382904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2026 წლის წინასწარი გეგმა</a:t>
            </a:r>
            <a:r>
              <a:rPr lang="en-US" sz="2000" b="1" dirty="0"/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593BF9-C09C-EA57-75CF-479987CB1DB0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31.12.2025</a:t>
            </a:r>
            <a:endParaRPr lang="ru-RU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73C492-C0AE-AA32-4C3C-6F702A167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20" y="1791268"/>
            <a:ext cx="11638559" cy="327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236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D1F53-6EB9-7058-D3A7-E4261ECAC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BCA314EC-4FC1-0E32-9CBB-F71318986D6C}"/>
              </a:ext>
            </a:extLst>
          </p:cNvPr>
          <p:cNvSpPr txBox="1">
            <a:spLocks/>
          </p:cNvSpPr>
          <p:nvPr/>
        </p:nvSpPr>
        <p:spPr>
          <a:xfrm>
            <a:off x="3870045" y="143338"/>
            <a:ext cx="4451910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2026 წლის მნიშვნელოვანი მიზნები</a:t>
            </a:r>
            <a:endParaRPr lang="en-US" sz="20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9F21AFA-5543-398B-12F5-3AA3D9EF1C99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</a:t>
            </a:r>
            <a:r>
              <a:rPr lang="en-US" sz="1200" dirty="0"/>
              <a:t>31.12.2025</a:t>
            </a:r>
            <a:endParaRPr lang="ru-RU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63A8DD-A121-92EB-F530-7236530C4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23" y="842601"/>
            <a:ext cx="5487166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68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19419</TotalTime>
  <Words>111</Words>
  <Application>Microsoft Office PowerPoint</Application>
  <PresentationFormat>Widescreen</PresentationFormat>
  <Paragraphs>46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Sylfaen</vt:lpstr>
      <vt:lpstr>Office Theme</vt:lpstr>
      <vt:lpstr>2025 წლის მიმოხილვა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Beso</dc:creator>
  <cp:lastModifiedBy>beso Ortoidze</cp:lastModifiedBy>
  <cp:revision>178</cp:revision>
  <dcterms:created xsi:type="dcterms:W3CDTF">2020-10-15T19:38:02Z</dcterms:created>
  <dcterms:modified xsi:type="dcterms:W3CDTF">2026-01-18T14:51:46Z</dcterms:modified>
</cp:coreProperties>
</file>