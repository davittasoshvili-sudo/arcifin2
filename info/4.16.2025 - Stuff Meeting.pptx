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2" r:id="rId2"/>
    <p:sldId id="304" r:id="rId3"/>
    <p:sldId id="295" r:id="rId4"/>
    <p:sldId id="297" r:id="rId5"/>
    <p:sldId id="307" r:id="rId6"/>
    <p:sldId id="310" r:id="rId7"/>
    <p:sldId id="309" r:id="rId8"/>
    <p:sldId id="302" r:id="rId9"/>
    <p:sldId id="298" r:id="rId10"/>
    <p:sldId id="306" r:id="rId11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3.31.2025%20-%20Statistic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3.31.2025%20-%20Statistic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3.31.2025%20-%20Statist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გაყიდვები (საცხოვრებელი) რ-ბა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Charts!$C$5:$O$5</c:f>
              <c:numCache>
                <c:formatCode>General</c:formatCode>
                <c:ptCount val="13"/>
                <c:pt idx="0">
                  <c:v>20</c:v>
                </c:pt>
                <c:pt idx="1">
                  <c:v>33</c:v>
                </c:pt>
                <c:pt idx="2">
                  <c:v>18</c:v>
                </c:pt>
                <c:pt idx="3">
                  <c:v>20</c:v>
                </c:pt>
                <c:pt idx="4">
                  <c:v>39</c:v>
                </c:pt>
                <c:pt idx="5">
                  <c:v>37</c:v>
                </c:pt>
                <c:pt idx="6">
                  <c:v>39</c:v>
                </c:pt>
                <c:pt idx="7">
                  <c:v>42</c:v>
                </c:pt>
                <c:pt idx="8">
                  <c:v>39</c:v>
                </c:pt>
                <c:pt idx="9">
                  <c:v>21</c:v>
                </c:pt>
                <c:pt idx="10">
                  <c:v>18</c:v>
                </c:pt>
                <c:pt idx="11">
                  <c:v>35</c:v>
                </c:pt>
                <c:pt idx="1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55-493A-963F-0AFC108F4668}"/>
            </c:ext>
          </c:extLst>
        </c:ser>
        <c:ser>
          <c:idx val="1"/>
          <c:order val="1"/>
          <c:tx>
            <c:strRef>
              <c:f>Charts!$B$6</c:f>
              <c:strCache>
                <c:ptCount val="1"/>
                <c:pt idx="0">
                  <c:v>სტოკი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2.0871434868797559E-2"/>
                  <c:y val="1.5900723395272702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455-493A-963F-0AFC108F4668}"/>
                </c:ext>
              </c:extLst>
            </c:dLbl>
            <c:dLbl>
              <c:idx val="2"/>
              <c:layout>
                <c:manualLayout>
                  <c:x val="0"/>
                  <c:y val="6.3602893581089642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455-493A-963F-0AFC108F4668}"/>
                </c:ext>
              </c:extLst>
            </c:dLbl>
            <c:dLbl>
              <c:idx val="3"/>
              <c:layout>
                <c:manualLayout>
                  <c:x val="6.4219799596300182E-3"/>
                  <c:y val="3.1801446790545407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455-493A-963F-0AFC108F4668}"/>
                </c:ext>
              </c:extLst>
            </c:dLbl>
            <c:dLbl>
              <c:idx val="6"/>
              <c:layout>
                <c:manualLayout>
                  <c:x val="-1.444945490916754E-2"/>
                  <c:y val="1.2720578716218104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0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455-493A-963F-0AFC108F4668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Charts!$C$6:$O$6</c:f>
              <c:numCache>
                <c:formatCode>General</c:formatCode>
                <c:ptCount val="13"/>
                <c:pt idx="0">
                  <c:v>217</c:v>
                </c:pt>
                <c:pt idx="1">
                  <c:v>202</c:v>
                </c:pt>
                <c:pt idx="2">
                  <c:v>331</c:v>
                </c:pt>
                <c:pt idx="3">
                  <c:v>369</c:v>
                </c:pt>
                <c:pt idx="4">
                  <c:v>349</c:v>
                </c:pt>
                <c:pt idx="5">
                  <c:v>310</c:v>
                </c:pt>
                <c:pt idx="6">
                  <c:v>329</c:v>
                </c:pt>
                <c:pt idx="7">
                  <c:v>290</c:v>
                </c:pt>
                <c:pt idx="8">
                  <c:v>248</c:v>
                </c:pt>
                <c:pt idx="9">
                  <c:v>231</c:v>
                </c:pt>
                <c:pt idx="10">
                  <c:v>318</c:v>
                </c:pt>
                <c:pt idx="11">
                  <c:v>300</c:v>
                </c:pt>
                <c:pt idx="12">
                  <c:v>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455-493A-963F-0AFC108F4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6256"/>
        <c:axId val="1"/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8332941230160603E-2"/>
                  <c:y val="-2.9925161429903226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455-493A-963F-0AFC108F4668}"/>
                </c:ext>
              </c:extLst>
            </c:dLbl>
            <c:dLbl>
              <c:idx val="1"/>
              <c:layout>
                <c:manualLayout>
                  <c:x val="-1.7094476300808129E-2"/>
                  <c:y val="-4.5825884825175987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455-493A-963F-0AFC108F4668}"/>
                </c:ext>
              </c:extLst>
            </c:dLbl>
            <c:dLbl>
              <c:idx val="2"/>
              <c:layout>
                <c:manualLayout>
                  <c:x val="-2.8332941230160662E-2"/>
                  <c:y val="-3.946559546706685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455-493A-963F-0AFC108F4668}"/>
                </c:ext>
              </c:extLst>
            </c:dLbl>
            <c:dLbl>
              <c:idx val="3"/>
              <c:layout>
                <c:manualLayout>
                  <c:x val="-3.3149426199883113E-2"/>
                  <c:y val="-3.31053061089578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455-493A-963F-0AFC108F4668}"/>
                </c:ext>
              </c:extLst>
            </c:dLbl>
            <c:dLbl>
              <c:idx val="4"/>
              <c:layout>
                <c:manualLayout>
                  <c:x val="-2.6727446240253215E-2"/>
                  <c:y val="-3.31053061089578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455-493A-963F-0AFC108F4668}"/>
                </c:ext>
              </c:extLst>
            </c:dLbl>
            <c:dLbl>
              <c:idx val="5"/>
              <c:layout>
                <c:manualLayout>
                  <c:x val="-3.9571406159513253E-2"/>
                  <c:y val="2.0957153434969421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455-493A-963F-0AFC108F4668}"/>
                </c:ext>
              </c:extLst>
            </c:dLbl>
            <c:dLbl>
              <c:idx val="8"/>
              <c:layout>
                <c:manualLayout>
                  <c:x val="-1.7135743325895285E-2"/>
                  <c:y val="1.1512825640777012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455-493A-963F-0AFC108F4668}"/>
                </c:ext>
              </c:extLst>
            </c:dLbl>
            <c:dLbl>
              <c:idx val="9"/>
              <c:layout>
                <c:manualLayout>
                  <c:x val="-1.8745114070804574E-2"/>
                  <c:y val="4.037506262322629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455-493A-963F-0AFC108F4668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Charts!$C$7:$O$7</c:f>
              <c:numCache>
                <c:formatCode>0%</c:formatCode>
                <c:ptCount val="13"/>
                <c:pt idx="0">
                  <c:v>9.2165898617511524E-2</c:v>
                </c:pt>
                <c:pt idx="1">
                  <c:v>0.16336633663366337</c:v>
                </c:pt>
                <c:pt idx="2">
                  <c:v>5.4380664652567974E-2</c:v>
                </c:pt>
                <c:pt idx="3">
                  <c:v>5.4200542005420058E-2</c:v>
                </c:pt>
                <c:pt idx="4">
                  <c:v>0.11174785100286533</c:v>
                </c:pt>
                <c:pt idx="5">
                  <c:v>0.11935483870967742</c:v>
                </c:pt>
                <c:pt idx="6">
                  <c:v>0.11854103343465046</c:v>
                </c:pt>
                <c:pt idx="7">
                  <c:v>0.14482758620689656</c:v>
                </c:pt>
                <c:pt idx="8">
                  <c:v>0.15725806451612903</c:v>
                </c:pt>
                <c:pt idx="9">
                  <c:v>9.0909090909090912E-2</c:v>
                </c:pt>
                <c:pt idx="10">
                  <c:v>5.6603773584905662E-2</c:v>
                </c:pt>
                <c:pt idx="11">
                  <c:v>0.11666666666666667</c:v>
                </c:pt>
                <c:pt idx="12">
                  <c:v>9.1228070175438603E-2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9455-493A-963F-0AFC108F46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"/>
        <c:axId val="4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dateAx>
        <c:axId val="3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4"/>
        <c:crosses val="autoZero"/>
        <c:auto val="1"/>
        <c:lblOffset val="100"/>
        <c:baseTimeUnit val="months"/>
      </c:dateAx>
      <c:valAx>
        <c:axId val="4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3"/>
        <c:crosses val="max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ჯამური კონტრაქტები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REPORT!$W$14:$AI$14</c:f>
              <c:numCache>
                <c:formatCode>_([$$-409]* #,##0_);_([$$-409]* \(#,##0\);_([$$-409]* "-"??_);_(@_)</c:formatCode>
                <c:ptCount val="13"/>
                <c:pt idx="0">
                  <c:v>1210666</c:v>
                </c:pt>
                <c:pt idx="1">
                  <c:v>2380963</c:v>
                </c:pt>
                <c:pt idx="2">
                  <c:v>2231890</c:v>
                </c:pt>
                <c:pt idx="3">
                  <c:v>1795061</c:v>
                </c:pt>
                <c:pt idx="4">
                  <c:v>3514446</c:v>
                </c:pt>
                <c:pt idx="5">
                  <c:v>3044908</c:v>
                </c:pt>
                <c:pt idx="6">
                  <c:v>4043277</c:v>
                </c:pt>
                <c:pt idx="7">
                  <c:v>3222307</c:v>
                </c:pt>
                <c:pt idx="8">
                  <c:v>3155146.9999999995</c:v>
                </c:pt>
                <c:pt idx="9">
                  <c:v>2734696.38</c:v>
                </c:pt>
                <c:pt idx="10">
                  <c:v>1767724</c:v>
                </c:pt>
                <c:pt idx="11">
                  <c:v>3813216</c:v>
                </c:pt>
                <c:pt idx="12">
                  <c:v>3070120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74-4798-AAE8-83ED354BB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9864"/>
        <c:axId val="1"/>
      </c:barChart>
      <c:dateAx>
        <c:axId val="400929864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986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საცხოვრებელის საშუალო გასაყიდი ფასი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44300971859661"/>
          <c:y val="0.19795275590551178"/>
          <c:w val="0.86501214907178725"/>
          <c:h val="0.62036538195883406"/>
        </c:manualLayout>
      </c:layout>
      <c:lineChart>
        <c:grouping val="stacke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სამგორი</c:v>
                </c:pt>
              </c:strCache>
            </c:strRef>
          </c:tx>
          <c:marker>
            <c:symbol val="diamond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Charts!$C$67:$O$67</c:f>
              <c:numCache>
                <c:formatCode>_([$$-409]* #,##0_);_([$$-409]* \(#,##0\);_([$$-409]* "-"??_);_(@_)</c:formatCode>
                <c:ptCount val="13"/>
                <c:pt idx="0">
                  <c:v>1076.1339680380822</c:v>
                </c:pt>
                <c:pt idx="1">
                  <c:v>1082.9075824811887</c:v>
                </c:pt>
                <c:pt idx="2">
                  <c:v>1079.9128160418484</c:v>
                </c:pt>
                <c:pt idx="3">
                  <c:v>1089.7083603370058</c:v>
                </c:pt>
                <c:pt idx="4">
                  <c:v>1082.4158981685932</c:v>
                </c:pt>
                <c:pt idx="5">
                  <c:v>1113.9752822975015</c:v>
                </c:pt>
                <c:pt idx="6">
                  <c:v>1088.009250693802</c:v>
                </c:pt>
                <c:pt idx="7">
                  <c:v>1105.3907089151448</c:v>
                </c:pt>
                <c:pt idx="8">
                  <c:v>1099.0946502057611</c:v>
                </c:pt>
                <c:pt idx="9">
                  <c:v>1125.8176382660688</c:v>
                </c:pt>
                <c:pt idx="10">
                  <c:v>1183.0748274609518</c:v>
                </c:pt>
                <c:pt idx="11">
                  <c:v>1212.5950380152065</c:v>
                </c:pt>
                <c:pt idx="12">
                  <c:v>1212.5950380152065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5C-4323-9BFB-C3B8D31F50EE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marker>
            <c:symbol val="squar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Charts!$C$68:$O$68</c:f>
              <c:numCache>
                <c:formatCode>_([$$-409]* #,##0_);_([$$-409]* \(#,##0\);_([$$-409]* "-"??_);_(@_)</c:formatCode>
                <c:ptCount val="13"/>
                <c:pt idx="0">
                  <c:v>1306.599190283401</c:v>
                </c:pt>
                <c:pt idx="1">
                  <c:v>1406.4</c:v>
                </c:pt>
                <c:pt idx="2">
                  <c:v>1265.808556925308</c:v>
                </c:pt>
                <c:pt idx="3">
                  <c:v>1378.046875</c:v>
                </c:pt>
                <c:pt idx="4">
                  <c:v>1357.2084250235775</c:v>
                </c:pt>
                <c:pt idx="5">
                  <c:v>1412.0066445182724</c:v>
                </c:pt>
                <c:pt idx="6">
                  <c:v>1374.9783688511457</c:v>
                </c:pt>
                <c:pt idx="7">
                  <c:v>1374.9783688511457</c:v>
                </c:pt>
                <c:pt idx="8">
                  <c:v>1489.8901453957997</c:v>
                </c:pt>
                <c:pt idx="9">
                  <c:v>1434.6619453924916</c:v>
                </c:pt>
                <c:pt idx="10">
                  <c:v>1434.6619453924916</c:v>
                </c:pt>
                <c:pt idx="11">
                  <c:v>1457.4894692502105</c:v>
                </c:pt>
                <c:pt idx="12">
                  <c:v>1431.6958887545345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5C-4323-9BFB-C3B8D31F50EE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უნივერსიტეტი</c:v>
                </c:pt>
              </c:strCache>
            </c:strRef>
          </c:tx>
          <c:marker>
            <c:symbol val="triangl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45382</c:v>
                </c:pt>
                <c:pt idx="1">
                  <c:v>45412</c:v>
                </c:pt>
                <c:pt idx="2">
                  <c:v>45443</c:v>
                </c:pt>
                <c:pt idx="3">
                  <c:v>45473</c:v>
                </c:pt>
                <c:pt idx="4">
                  <c:v>45504</c:v>
                </c:pt>
                <c:pt idx="5">
                  <c:v>45535</c:v>
                </c:pt>
                <c:pt idx="6">
                  <c:v>45565</c:v>
                </c:pt>
                <c:pt idx="7">
                  <c:v>45596</c:v>
                </c:pt>
                <c:pt idx="8">
                  <c:v>45626</c:v>
                </c:pt>
                <c:pt idx="9">
                  <c:v>45657</c:v>
                </c:pt>
                <c:pt idx="10">
                  <c:v>45688</c:v>
                </c:pt>
                <c:pt idx="11">
                  <c:v>45716</c:v>
                </c:pt>
                <c:pt idx="12">
                  <c:v>45747</c:v>
                </c:pt>
              </c:numCache>
            </c:numRef>
          </c:cat>
          <c:val>
            <c:numRef>
              <c:f>Charts!$C$69:$O$69</c:f>
              <c:numCache>
                <c:formatCode>_([$$-409]* #,##0_);_([$$-409]* \(#,##0\);_([$$-409]* "-"??_);_(@_)</c:formatCode>
                <c:ptCount val="13"/>
                <c:pt idx="0">
                  <c:v>1626.2672413793102</c:v>
                </c:pt>
                <c:pt idx="1">
                  <c:v>1606.091719272187</c:v>
                </c:pt>
                <c:pt idx="2">
                  <c:v>1551.8600616808019</c:v>
                </c:pt>
                <c:pt idx="3">
                  <c:v>1589.7352614015572</c:v>
                </c:pt>
                <c:pt idx="4">
                  <c:v>1527.2914501653283</c:v>
                </c:pt>
                <c:pt idx="5">
                  <c:v>1550.4705364995605</c:v>
                </c:pt>
                <c:pt idx="6">
                  <c:v>1569.1176470588236</c:v>
                </c:pt>
                <c:pt idx="7">
                  <c:v>1559.7953676635934</c:v>
                </c:pt>
                <c:pt idx="8">
                  <c:v>1592.1863354037266</c:v>
                </c:pt>
                <c:pt idx="9">
                  <c:v>1621.0362173038232</c:v>
                </c:pt>
                <c:pt idx="10">
                  <c:v>1580.1084430673893</c:v>
                </c:pt>
                <c:pt idx="11">
                  <c:v>1608.4264215735784</c:v>
                </c:pt>
                <c:pt idx="12">
                  <c:v>1664.9849548645939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5C-4323-9BFB-C3B8D31F50E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3.3357295306239585E-4"/>
          <c:y val="0.28645833333333331"/>
          <c:w val="0.12050797680012987"/>
          <c:h val="0.44062500000000004"/>
        </c:manualLayout>
      </c:layout>
      <c:overlay val="0"/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16.04.2025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31" y="2798875"/>
            <a:ext cx="5531537" cy="1260249"/>
          </a:xfrm>
        </p:spPr>
        <p:txBody>
          <a:bodyPr>
            <a:normAutofit fontScale="90000"/>
          </a:bodyPr>
          <a:lstStyle/>
          <a:p>
            <a:r>
              <a:rPr lang="ka-GE" dirty="0"/>
              <a:t>2025 წლის </a:t>
            </a:r>
            <a:r>
              <a:rPr lang="en-US" dirty="0"/>
              <a:t>I </a:t>
            </a:r>
            <a:r>
              <a:rPr lang="ka-GE" dirty="0"/>
              <a:t>კვარტალი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E7DAA168-7206-B8CA-3275-03F125A69FEA}"/>
              </a:ext>
            </a:extLst>
          </p:cNvPr>
          <p:cNvSpPr txBox="1">
            <a:spLocks/>
          </p:cNvSpPr>
          <p:nvPr/>
        </p:nvSpPr>
        <p:spPr>
          <a:xfrm>
            <a:off x="3421523" y="123390"/>
            <a:ext cx="591249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600" b="1" dirty="0"/>
              <a:t>დაგეგმილი და რეალური ბიუჯეტი</a:t>
            </a:r>
            <a:endParaRPr lang="en-US" sz="2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801A29-47D6-DC02-D030-C97321F5C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68" y="808164"/>
            <a:ext cx="11859063" cy="524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5205581" y="162497"/>
            <a:ext cx="178083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შემოსავლები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66991F-B106-446E-A3F5-FAC880A863DC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100-00008A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8158167"/>
              </p:ext>
            </p:extLst>
          </p:nvPr>
        </p:nvGraphicFramePr>
        <p:xfrm>
          <a:off x="610790" y="701385"/>
          <a:ext cx="11015151" cy="2727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100-00008B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453415"/>
              </p:ext>
            </p:extLst>
          </p:nvPr>
        </p:nvGraphicFramePr>
        <p:xfrm>
          <a:off x="610790" y="3512007"/>
          <a:ext cx="11015150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06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EBFD98-7A52-F159-2479-13191760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2" y="3580951"/>
            <a:ext cx="1400372" cy="1000265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100-00008C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960499"/>
              </p:ext>
            </p:extLst>
          </p:nvPr>
        </p:nvGraphicFramePr>
        <p:xfrm>
          <a:off x="719469" y="143337"/>
          <a:ext cx="10492897" cy="2929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E98F493-983B-7528-4A09-86ED53839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9822" y="3072620"/>
            <a:ext cx="3010750" cy="16647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788664-7654-F4F2-F8B0-806511058B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149" y="3223457"/>
            <a:ext cx="4239217" cy="17814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09C39F4-EE8C-9BF1-CFF2-B88857474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55" y="4890407"/>
            <a:ext cx="5970508" cy="153265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2437A65-D3D5-4710-8C13-25221221553D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B325A6-3F45-C7A9-2812-A2812604E51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801273-6B7D-A27E-B152-448613D48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3" y="143338"/>
            <a:ext cx="11928233" cy="554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A72C-9F80-0AFF-DD1A-7F7FBB4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BF0459-C5E5-0CBC-100F-2A37408088C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E2546-A13D-F600-BBD1-FD2FD7E2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65" y="143338"/>
            <a:ext cx="11884270" cy="559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E144D-3D2E-159E-FC54-EF2231E6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1CD8AE-B54C-6463-C0E0-0E247419CF0B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CB56CA-2B0C-95EB-F885-EECB32942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10" y="143338"/>
            <a:ext cx="11923579" cy="56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3956572" y="149370"/>
            <a:ext cx="4278855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/>
              <a:t>კომერციულების გაყიდვა ჯიქიაზე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7C3E34-7514-31CC-1C4A-B4FF8EFD37B7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1D155D-35EF-8DE7-9316-BEAB95A10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161" y="1213287"/>
            <a:ext cx="8231677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5B8B8B98-5B7D-3C21-CB9A-54A55AAE7F74}"/>
              </a:ext>
            </a:extLst>
          </p:cNvPr>
          <p:cNvSpPr txBox="1">
            <a:spLocks/>
          </p:cNvSpPr>
          <p:nvPr/>
        </p:nvSpPr>
        <p:spPr>
          <a:xfrm>
            <a:off x="5154824" y="154224"/>
            <a:ext cx="1882351" cy="426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600" b="1" dirty="0"/>
              <a:t>სცენარები</a:t>
            </a:r>
            <a:endParaRPr lang="en-US" sz="2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FD2CF-9F56-9CEA-37BA-51A92528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408" y="1066801"/>
            <a:ext cx="11850592" cy="4528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F8A70A-C885-3FA8-B4C6-3D612B34EA36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39591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EDA7-3AE8-E1EB-B1FB-4DB11DBC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E6273F26-2B04-02A8-8BFC-F26CCA51FE52}"/>
              </a:ext>
            </a:extLst>
          </p:cNvPr>
          <p:cNvSpPr txBox="1">
            <a:spLocks/>
          </p:cNvSpPr>
          <p:nvPr/>
        </p:nvSpPr>
        <p:spPr>
          <a:xfrm>
            <a:off x="4800903" y="163704"/>
            <a:ext cx="2590192" cy="426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600" b="1" dirty="0"/>
              <a:t>გეგმა-გრაფიკი</a:t>
            </a:r>
            <a:endParaRPr lang="en-US" sz="2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820D1B-07B7-1574-1656-79201F44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859391"/>
            <a:ext cx="12192000" cy="49868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4A5A2B-6228-34C1-5A1D-38CD928B9184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03.2025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67978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19652</TotalTime>
  <Words>94</Words>
  <Application>Microsoft Office PowerPoint</Application>
  <PresentationFormat>Widescreen</PresentationFormat>
  <Paragraphs>33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Sylfaen</vt:lpstr>
      <vt:lpstr>Office Theme</vt:lpstr>
      <vt:lpstr>2025 წლის I კვარტალი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183</cp:revision>
  <dcterms:created xsi:type="dcterms:W3CDTF">2020-10-15T19:38:02Z</dcterms:created>
  <dcterms:modified xsi:type="dcterms:W3CDTF">2025-04-16T09:26:19Z</dcterms:modified>
</cp:coreProperties>
</file>