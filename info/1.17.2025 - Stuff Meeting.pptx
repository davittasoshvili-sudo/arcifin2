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2" r:id="rId2"/>
    <p:sldId id="256" r:id="rId3"/>
    <p:sldId id="304" r:id="rId4"/>
    <p:sldId id="298" r:id="rId5"/>
    <p:sldId id="305" r:id="rId6"/>
    <p:sldId id="297" r:id="rId7"/>
    <p:sldId id="302" r:id="rId8"/>
    <p:sldId id="299" r:id="rId9"/>
    <p:sldId id="300" r:id="rId10"/>
    <p:sldId id="301" r:id="rId11"/>
    <p:sldId id="306" r:id="rId12"/>
    <p:sldId id="307" r:id="rId13"/>
  </p:sldIdLst>
  <p:sldSz cx="12192000" cy="6858000"/>
  <p:notesSz cx="9388475" cy="71024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B9A338-AACD-6A96-D3F9-881CA4058909}" name="beso Ortoidze" initials="bO" userId="9441844aa767b20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so" initials="B" lastIdx="7" clrIdx="0">
    <p:extLst>
      <p:ext uri="{19B8F6BF-5375-455C-9EA6-DF929625EA0E}">
        <p15:presenceInfo xmlns:p15="http://schemas.microsoft.com/office/powerpoint/2012/main" userId="Beso" providerId="None"/>
      </p:ext>
    </p:extLst>
  </p:cmAuthor>
  <p:cmAuthor id="2" name="Beso Ortoidze" initials="B" lastIdx="2" clrIdx="1">
    <p:extLst>
      <p:ext uri="{19B8F6BF-5375-455C-9EA6-DF929625EA0E}">
        <p15:presenceInfo xmlns:p15="http://schemas.microsoft.com/office/powerpoint/2012/main" userId="Beso Ortoidze" providerId="None"/>
      </p:ext>
    </p:extLst>
  </p:cmAuthor>
  <p:cmAuthor id="3" name="beso Ortoidze" initials="bO" lastIdx="2" clrIdx="2">
    <p:extLst>
      <p:ext uri="{19B8F6BF-5375-455C-9EA6-DF929625EA0E}">
        <p15:presenceInfo xmlns:p15="http://schemas.microsoft.com/office/powerpoint/2012/main" userId="9441844aa767b2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WORK\Finance\&#4321;&#4322;&#4304;&#4322;&#4312;&#4321;&#4322;&#4312;&#4313;&#4304;\General%20Statist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4\12.31.2024%20-%20Statistic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4\12.31.2024%20-%20Statistic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4\12.31.2024%20-%20Statistic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30336832895888"/>
          <c:y val="0.20108814523184601"/>
          <c:w val="0.84725218722659668"/>
          <c:h val="0.71466061533974923"/>
        </c:manualLayout>
      </c:layout>
      <c:lineChart>
        <c:grouping val="stacked"/>
        <c:varyColors val="0"/>
        <c:ser>
          <c:idx val="0"/>
          <c:order val="0"/>
          <c:tx>
            <c:strRef>
              <c:f>'Revenues&amp;Incomes'!$B$35</c:f>
              <c:strCache>
                <c:ptCount val="1"/>
                <c:pt idx="0">
                  <c:v>შემოსავალი (მლნ. აშშ დოლარი)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226354219731703E-2"/>
                  <c:y val="-4.16666666666667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914-481F-86A3-BE814081B348}"/>
                </c:ext>
              </c:extLst>
            </c:dLbl>
            <c:dLbl>
              <c:idx val="1"/>
              <c:layout>
                <c:manualLayout>
                  <c:x val="-2.3773136355917813E-2"/>
                  <c:y val="-3.24074074074074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914-481F-86A3-BE814081B348}"/>
                </c:ext>
              </c:extLst>
            </c:dLbl>
            <c:dLbl>
              <c:idx val="3"/>
              <c:layout>
                <c:manualLayout>
                  <c:x val="-6.7923246731193751E-3"/>
                  <c:y val="-3.24074074074074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914-481F-86A3-BE814081B348}"/>
                </c:ext>
              </c:extLst>
            </c:dLbl>
            <c:dLbl>
              <c:idx val="6"/>
              <c:layout>
                <c:manualLayout>
                  <c:x val="-1.0188487009679063E-2"/>
                  <c:y val="4.629629629629625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>
                      <a:defRPr lang="en-US" sz="9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6C69781-0261-4E55-B51E-9C4D70711ED1}" type="VALUE">
                      <a:rPr lang="en-US" sz="9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rPr>
                      <a:pPr algn="ctr">
                        <a:defRPr lang="en-US" b="1"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914-481F-86A3-BE814081B348}"/>
                </c:ext>
              </c:extLst>
            </c:dLbl>
            <c:dLbl>
              <c:idx val="7"/>
              <c:layout>
                <c:manualLayout>
                  <c:x val="-1.6980811682798563E-2"/>
                  <c:y val="-5.555555555555555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8414F50-F6F2-4AF3-83E6-01C5659333D0}" type="VALUE">
                      <a:rPr lang="en-US" b="1">
                        <a:solidFill>
                          <a:srgbClr val="FF0000"/>
                        </a:solidFill>
                      </a:rPr>
                      <a:pPr>
                        <a:defRPr b="1"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solidFill>
                    <a:schemeClr val="bg2">
                      <a:alpha val="98000"/>
                    </a:schemeClr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914-481F-86A3-BE814081B3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'Revenues&amp;Incomes'!$C$34:$J$34</c:f>
              <c:numCache>
                <c:formatCode>General</c:formatCode>
                <c:ptCount val="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</c:numCache>
            </c:numRef>
          </c:cat>
          <c:val>
            <c:numRef>
              <c:f>'Revenues&amp;Incomes'!$C$35:$J$35</c:f>
              <c:numCache>
                <c:formatCode>_("$"* #,##0.00_);_("$"* \(#,##0.00\);_("$"* "-"??_);_(@_)</c:formatCode>
                <c:ptCount val="8"/>
                <c:pt idx="0">
                  <c:v>21.622853342014114</c:v>
                </c:pt>
                <c:pt idx="1">
                  <c:v>26.641365107678073</c:v>
                </c:pt>
                <c:pt idx="2">
                  <c:v>24.485597599153056</c:v>
                </c:pt>
                <c:pt idx="3">
                  <c:v>12.536787696686611</c:v>
                </c:pt>
                <c:pt idx="4">
                  <c:v>12.996455607572045</c:v>
                </c:pt>
                <c:pt idx="5">
                  <c:v>30.385136915270465</c:v>
                </c:pt>
                <c:pt idx="6">
                  <c:v>49.119948380947278</c:v>
                </c:pt>
                <c:pt idx="7">
                  <c:v>52.725097973503715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914-481F-86A3-BE814081B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1316959"/>
        <c:axId val="2071313631"/>
      </c:lineChart>
      <c:catAx>
        <c:axId val="2071316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313631"/>
        <c:crosses val="autoZero"/>
        <c:auto val="1"/>
        <c:lblAlgn val="ctr"/>
        <c:lblOffset val="100"/>
        <c:noMultiLvlLbl val="0"/>
      </c:catAx>
      <c:valAx>
        <c:axId val="2071313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316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pct30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გაყიდვები (საცხოვრებელი) რ-ბა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Charts!$B$5</c:f>
              <c:strCache>
                <c:ptCount val="1"/>
                <c:pt idx="0">
                  <c:v>გაყიდვები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Charts!$C$3:$N$3</c:f>
              <c:numCache>
                <c:formatCode>[$-409]mmm\-yy;@</c:formatCode>
                <c:ptCount val="12"/>
                <c:pt idx="0">
                  <c:v>45322</c:v>
                </c:pt>
                <c:pt idx="1">
                  <c:v>45351</c:v>
                </c:pt>
                <c:pt idx="2">
                  <c:v>45382</c:v>
                </c:pt>
                <c:pt idx="3">
                  <c:v>45412</c:v>
                </c:pt>
                <c:pt idx="4">
                  <c:v>45443</c:v>
                </c:pt>
                <c:pt idx="5">
                  <c:v>45473</c:v>
                </c:pt>
                <c:pt idx="6">
                  <c:v>45504</c:v>
                </c:pt>
                <c:pt idx="7">
                  <c:v>45535</c:v>
                </c:pt>
                <c:pt idx="8">
                  <c:v>45565</c:v>
                </c:pt>
                <c:pt idx="9">
                  <c:v>45596</c:v>
                </c:pt>
                <c:pt idx="10">
                  <c:v>45626</c:v>
                </c:pt>
                <c:pt idx="11">
                  <c:v>45657</c:v>
                </c:pt>
              </c:numCache>
              <c:extLst/>
            </c:numRef>
          </c:cat>
          <c:val>
            <c:numRef>
              <c:f>Charts!$C$5:$N$5</c:f>
              <c:numCache>
                <c:formatCode>General</c:formatCode>
                <c:ptCount val="12"/>
                <c:pt idx="0">
                  <c:v>16</c:v>
                </c:pt>
                <c:pt idx="1">
                  <c:v>21</c:v>
                </c:pt>
                <c:pt idx="2">
                  <c:v>20</c:v>
                </c:pt>
                <c:pt idx="3">
                  <c:v>33</c:v>
                </c:pt>
                <c:pt idx="4">
                  <c:v>18</c:v>
                </c:pt>
                <c:pt idx="5">
                  <c:v>20</c:v>
                </c:pt>
                <c:pt idx="6">
                  <c:v>40</c:v>
                </c:pt>
                <c:pt idx="7">
                  <c:v>37</c:v>
                </c:pt>
                <c:pt idx="8">
                  <c:v>39</c:v>
                </c:pt>
                <c:pt idx="9">
                  <c:v>42</c:v>
                </c:pt>
                <c:pt idx="10">
                  <c:v>39</c:v>
                </c:pt>
                <c:pt idx="11">
                  <c:v>21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066B-4DE0-BFC1-3A296E3E8602}"/>
            </c:ext>
          </c:extLst>
        </c:ser>
        <c:ser>
          <c:idx val="1"/>
          <c:order val="1"/>
          <c:tx>
            <c:strRef>
              <c:f>Charts!$B$6</c:f>
              <c:strCache>
                <c:ptCount val="1"/>
                <c:pt idx="0">
                  <c:v>სტოკი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3.116801523551475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6B-4DE0-BFC1-3A296E3E8602}"/>
                </c:ext>
              </c:extLst>
            </c:dLbl>
            <c:dLbl>
              <c:idx val="1"/>
              <c:layout>
                <c:manualLayout>
                  <c:x val="-1.6084474173404912E-3"/>
                  <c:y val="0.11784086642174006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0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66B-4DE0-BFC1-3A296E3E8602}"/>
                </c:ext>
              </c:extLst>
            </c:dLbl>
            <c:dLbl>
              <c:idx val="2"/>
              <c:layout>
                <c:manualLayout>
                  <c:x val="1.0162652635115881E-3"/>
                  <c:y val="0.10469385401097997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0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66B-4DE0-BFC1-3A296E3E8602}"/>
                </c:ext>
              </c:extLst>
            </c:dLbl>
            <c:dLbl>
              <c:idx val="3"/>
              <c:layout>
                <c:manualLayout>
                  <c:x val="6.4219799596300182E-3"/>
                  <c:y val="3.1801446790545407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0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66B-4DE0-BFC1-3A296E3E8602}"/>
                </c:ext>
              </c:extLst>
            </c:dLbl>
            <c:dLbl>
              <c:idx val="6"/>
              <c:layout>
                <c:manualLayout>
                  <c:x val="-1.444945490916754E-2"/>
                  <c:y val="1.2720578716218104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0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66B-4DE0-BFC1-3A296E3E8602}"/>
                </c:ext>
              </c:extLst>
            </c:dLbl>
            <c:dLbl>
              <c:idx val="8"/>
              <c:layout>
                <c:manualLayout>
                  <c:x val="-5.5570025397033065E-3"/>
                  <c:y val="-1.32013201320132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66B-4DE0-BFC1-3A296E3E8602}"/>
                </c:ext>
              </c:extLst>
            </c:dLbl>
            <c:dLbl>
              <c:idx val="11"/>
              <c:layout>
                <c:manualLayout>
                  <c:x val="8.1489681417742741E-3"/>
                  <c:y val="6.753069967694874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66B-4DE0-BFC1-3A296E3E8602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Charts!$C$3:$N$3</c:f>
              <c:numCache>
                <c:formatCode>[$-409]mmm\-yy;@</c:formatCode>
                <c:ptCount val="12"/>
                <c:pt idx="0">
                  <c:v>45322</c:v>
                </c:pt>
                <c:pt idx="1">
                  <c:v>45351</c:v>
                </c:pt>
                <c:pt idx="2">
                  <c:v>45382</c:v>
                </c:pt>
                <c:pt idx="3">
                  <c:v>45412</c:v>
                </c:pt>
                <c:pt idx="4">
                  <c:v>45443</c:v>
                </c:pt>
                <c:pt idx="5">
                  <c:v>45473</c:v>
                </c:pt>
                <c:pt idx="6">
                  <c:v>45504</c:v>
                </c:pt>
                <c:pt idx="7">
                  <c:v>45535</c:v>
                </c:pt>
                <c:pt idx="8">
                  <c:v>45565</c:v>
                </c:pt>
                <c:pt idx="9">
                  <c:v>45596</c:v>
                </c:pt>
                <c:pt idx="10">
                  <c:v>45626</c:v>
                </c:pt>
                <c:pt idx="11">
                  <c:v>45657</c:v>
                </c:pt>
              </c:numCache>
              <c:extLst/>
            </c:numRef>
          </c:cat>
          <c:val>
            <c:numRef>
              <c:f>Charts!$C$6:$N$6</c:f>
              <c:numCache>
                <c:formatCode>General</c:formatCode>
                <c:ptCount val="12"/>
                <c:pt idx="0">
                  <c:v>173</c:v>
                </c:pt>
                <c:pt idx="1">
                  <c:v>238</c:v>
                </c:pt>
                <c:pt idx="2">
                  <c:v>222</c:v>
                </c:pt>
                <c:pt idx="3">
                  <c:v>364</c:v>
                </c:pt>
                <c:pt idx="4">
                  <c:v>387</c:v>
                </c:pt>
                <c:pt idx="5">
                  <c:v>369</c:v>
                </c:pt>
                <c:pt idx="6">
                  <c:v>349</c:v>
                </c:pt>
                <c:pt idx="7">
                  <c:v>365</c:v>
                </c:pt>
                <c:pt idx="8">
                  <c:v>328</c:v>
                </c:pt>
                <c:pt idx="9">
                  <c:v>289</c:v>
                </c:pt>
                <c:pt idx="10">
                  <c:v>269</c:v>
                </c:pt>
                <c:pt idx="11">
                  <c:v>230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8-066B-4DE0-BFC1-3A296E3E86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0926256"/>
        <c:axId val="1"/>
      </c:barChart>
      <c:lineChart>
        <c:grouping val="standard"/>
        <c:varyColors val="0"/>
        <c:ser>
          <c:idx val="2"/>
          <c:order val="2"/>
          <c:tx>
            <c:strRef>
              <c:f>Charts!$B$7</c:f>
              <c:strCache>
                <c:ptCount val="1"/>
                <c:pt idx="0">
                  <c:v>%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2.8332941230160603E-2"/>
                  <c:y val="-2.9925161429903226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66B-4DE0-BFC1-3A296E3E8602}"/>
                </c:ext>
              </c:extLst>
            </c:dLbl>
            <c:dLbl>
              <c:idx val="1"/>
              <c:layout>
                <c:manualLayout>
                  <c:x val="-1.7094476300808129E-2"/>
                  <c:y val="-4.5825884825175987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66B-4DE0-BFC1-3A296E3E8602}"/>
                </c:ext>
              </c:extLst>
            </c:dLbl>
            <c:dLbl>
              <c:idx val="2"/>
              <c:layout>
                <c:manualLayout>
                  <c:x val="-2.8332941230160662E-2"/>
                  <c:y val="-3.946559546706685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66B-4DE0-BFC1-3A296E3E8602}"/>
                </c:ext>
              </c:extLst>
            </c:dLbl>
            <c:dLbl>
              <c:idx val="3"/>
              <c:layout>
                <c:manualLayout>
                  <c:x val="-3.3149379776164375E-2"/>
                  <c:y val="-4.6306488916608199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66B-4DE0-BFC1-3A296E3E8602}"/>
                </c:ext>
              </c:extLst>
            </c:dLbl>
            <c:dLbl>
              <c:idx val="4"/>
              <c:layout>
                <c:manualLayout>
                  <c:x val="-2.2559649353917244E-2"/>
                  <c:y val="-5.779049040131478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66B-4DE0-BFC1-3A296E3E8602}"/>
                </c:ext>
              </c:extLst>
            </c:dLbl>
            <c:dLbl>
              <c:idx val="5"/>
              <c:layout>
                <c:manualLayout>
                  <c:x val="-2.2713921659784392E-2"/>
                  <c:y val="-2.774812317010619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66B-4DE0-BFC1-3A296E3E8602}"/>
                </c:ext>
              </c:extLst>
            </c:dLbl>
            <c:dLbl>
              <c:idx val="6"/>
              <c:layout>
                <c:manualLayout>
                  <c:x val="-1.5580500565600133E-2"/>
                  <c:y val="3.03519485806848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66B-4DE0-BFC1-3A296E3E8602}"/>
                </c:ext>
              </c:extLst>
            </c:dLbl>
            <c:dLbl>
              <c:idx val="8"/>
              <c:layout>
                <c:manualLayout>
                  <c:x val="-1.5746444913094716E-2"/>
                  <c:y val="5.1116828218254896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66B-4DE0-BFC1-3A296E3E8602}"/>
                </c:ext>
              </c:extLst>
            </c:dLbl>
            <c:dLbl>
              <c:idx val="9"/>
              <c:layout>
                <c:manualLayout>
                  <c:x val="-2.1150553197381228E-2"/>
                  <c:y val="-5.3128786075341522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66B-4DE0-BFC1-3A296E3E8602}"/>
                </c:ext>
              </c:extLst>
            </c:dLbl>
            <c:dLbl>
              <c:idx val="11"/>
              <c:layout>
                <c:manualLayout>
                  <c:x val="-1.3447946146082104E-2"/>
                  <c:y val="-8.405949256342960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66B-4DE0-BFC1-3A296E3E8602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Charts!$C$3:$N$3</c:f>
              <c:numCache>
                <c:formatCode>[$-409]mmm\-yy;@</c:formatCode>
                <c:ptCount val="12"/>
                <c:pt idx="0">
                  <c:v>45322</c:v>
                </c:pt>
                <c:pt idx="1">
                  <c:v>45351</c:v>
                </c:pt>
                <c:pt idx="2">
                  <c:v>45382</c:v>
                </c:pt>
                <c:pt idx="3">
                  <c:v>45412</c:v>
                </c:pt>
                <c:pt idx="4">
                  <c:v>45443</c:v>
                </c:pt>
                <c:pt idx="5">
                  <c:v>45473</c:v>
                </c:pt>
                <c:pt idx="6">
                  <c:v>45504</c:v>
                </c:pt>
                <c:pt idx="7">
                  <c:v>45535</c:v>
                </c:pt>
                <c:pt idx="8">
                  <c:v>45565</c:v>
                </c:pt>
                <c:pt idx="9">
                  <c:v>45596</c:v>
                </c:pt>
                <c:pt idx="10">
                  <c:v>45626</c:v>
                </c:pt>
                <c:pt idx="11">
                  <c:v>45657</c:v>
                </c:pt>
              </c:numCache>
              <c:extLst/>
            </c:numRef>
          </c:cat>
          <c:val>
            <c:numRef>
              <c:f>Charts!$C$7:$N$7</c:f>
              <c:numCache>
                <c:formatCode>0%</c:formatCode>
                <c:ptCount val="12"/>
                <c:pt idx="0">
                  <c:v>9.2485549132947972E-2</c:v>
                </c:pt>
                <c:pt idx="1">
                  <c:v>8.8235294117647065E-2</c:v>
                </c:pt>
                <c:pt idx="2">
                  <c:v>9.0090090090090086E-2</c:v>
                </c:pt>
                <c:pt idx="3">
                  <c:v>9.0659340659340656E-2</c:v>
                </c:pt>
                <c:pt idx="4">
                  <c:v>4.6511627906976744E-2</c:v>
                </c:pt>
                <c:pt idx="5">
                  <c:v>5.4200542005420058E-2</c:v>
                </c:pt>
                <c:pt idx="6">
                  <c:v>0.11461318051575932</c:v>
                </c:pt>
                <c:pt idx="7">
                  <c:v>0.10136986301369863</c:v>
                </c:pt>
                <c:pt idx="8">
                  <c:v>0.11890243902439024</c:v>
                </c:pt>
                <c:pt idx="9">
                  <c:v>0.1453287197231834</c:v>
                </c:pt>
                <c:pt idx="10">
                  <c:v>0.1449814126394052</c:v>
                </c:pt>
                <c:pt idx="11">
                  <c:v>9.1304347826086957E-2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13-066B-4DE0-BFC1-3A296E3E86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dateAx>
        <c:axId val="40092625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6256"/>
        <c:crosses val="autoZero"/>
        <c:crossBetween val="between"/>
      </c:valAx>
      <c:dateAx>
        <c:axId val="3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crossAx val="4"/>
        <c:crosses val="autoZero"/>
        <c:auto val="1"/>
        <c:lblOffset val="100"/>
        <c:baseTimeUnit val="months"/>
      </c:dateAx>
      <c:valAx>
        <c:axId val="4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3"/>
        <c:crosses val="max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ჯამური კონტრაქტები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6.1899455463504637E-3"/>
                  <c:y val="1.57164504829714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BD-4368-9CAE-C9E3C321BCBF}"/>
                </c:ext>
              </c:extLst>
            </c:dLbl>
            <c:dLbl>
              <c:idx val="3"/>
              <c:layout>
                <c:manualLayout>
                  <c:x val="-4.1266303642336173E-3"/>
                  <c:y val="-1.964556310371434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3BD-4368-9CAE-C9E3C321BCBF}"/>
                </c:ext>
              </c:extLst>
            </c:dLbl>
            <c:dLbl>
              <c:idx val="9"/>
              <c:layout>
                <c:manualLayout>
                  <c:x val="-2.0633151821168086E-3"/>
                  <c:y val="-2.35746757244572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BD-4368-9CAE-C9E3C321BCBF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45322</c:v>
                </c:pt>
                <c:pt idx="1">
                  <c:v>45351</c:v>
                </c:pt>
                <c:pt idx="2">
                  <c:v>45382</c:v>
                </c:pt>
                <c:pt idx="3">
                  <c:v>45412</c:v>
                </c:pt>
                <c:pt idx="4">
                  <c:v>45443</c:v>
                </c:pt>
                <c:pt idx="5">
                  <c:v>45473</c:v>
                </c:pt>
                <c:pt idx="6">
                  <c:v>45504</c:v>
                </c:pt>
                <c:pt idx="7">
                  <c:v>45535</c:v>
                </c:pt>
                <c:pt idx="8">
                  <c:v>45565</c:v>
                </c:pt>
                <c:pt idx="9">
                  <c:v>45596</c:v>
                </c:pt>
                <c:pt idx="10">
                  <c:v>45626</c:v>
                </c:pt>
                <c:pt idx="11">
                  <c:v>45657</c:v>
                </c:pt>
                <c:pt idx="12">
                  <c:v>45688</c:v>
                </c:pt>
              </c:numCache>
            </c:numRef>
          </c:cat>
          <c:val>
            <c:numRef>
              <c:f>REPORT!$T$14:$AE$14</c:f>
              <c:numCache>
                <c:formatCode>_([$$-409]* #,##0_);_([$$-409]* \(#,##0\);_([$$-409]* "-"??_);_(@_)</c:formatCode>
                <c:ptCount val="12"/>
                <c:pt idx="0">
                  <c:v>1911629</c:v>
                </c:pt>
                <c:pt idx="1">
                  <c:v>1694557</c:v>
                </c:pt>
                <c:pt idx="2">
                  <c:v>1210666</c:v>
                </c:pt>
                <c:pt idx="3">
                  <c:v>2380963</c:v>
                </c:pt>
                <c:pt idx="4">
                  <c:v>2231890</c:v>
                </c:pt>
                <c:pt idx="5">
                  <c:v>1795061</c:v>
                </c:pt>
                <c:pt idx="6">
                  <c:v>3571696</c:v>
                </c:pt>
                <c:pt idx="7">
                  <c:v>3044908</c:v>
                </c:pt>
                <c:pt idx="8">
                  <c:v>4043277</c:v>
                </c:pt>
                <c:pt idx="9">
                  <c:v>3222307</c:v>
                </c:pt>
                <c:pt idx="10">
                  <c:v>3155146.9999999995</c:v>
                </c:pt>
                <c:pt idx="11">
                  <c:v>2734696.38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BD-4368-9CAE-C9E3C321BC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0929864"/>
        <c:axId val="1"/>
      </c:barChart>
      <c:dateAx>
        <c:axId val="400929864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986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საცხოვრებელის საშუალო გასაყიდი ფასი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1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1744300971859661"/>
          <c:y val="0.19795275590551178"/>
          <c:w val="0.86501214907178725"/>
          <c:h val="0.62036538195883406"/>
        </c:manualLayout>
      </c:layout>
      <c:lineChart>
        <c:grouping val="stacked"/>
        <c:varyColors val="0"/>
        <c:ser>
          <c:idx val="0"/>
          <c:order val="0"/>
          <c:tx>
            <c:strRef>
              <c:f>Charts!$B$67</c:f>
              <c:strCache>
                <c:ptCount val="1"/>
                <c:pt idx="0">
                  <c:v>სამგორი</c:v>
                </c:pt>
              </c:strCache>
            </c:strRef>
          </c:tx>
          <c:marker>
            <c:symbol val="diamond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Charts!$D$66:$O$66</c:f>
              <c:numCache>
                <c:formatCode>[$-409]mmm\-yy;@</c:formatCode>
                <c:ptCount val="12"/>
                <c:pt idx="0">
                  <c:v>45322</c:v>
                </c:pt>
                <c:pt idx="1">
                  <c:v>45351</c:v>
                </c:pt>
                <c:pt idx="2">
                  <c:v>45382</c:v>
                </c:pt>
                <c:pt idx="3">
                  <c:v>45412</c:v>
                </c:pt>
                <c:pt idx="4">
                  <c:v>45443</c:v>
                </c:pt>
                <c:pt idx="5">
                  <c:v>45473</c:v>
                </c:pt>
                <c:pt idx="6">
                  <c:v>45504</c:v>
                </c:pt>
                <c:pt idx="7">
                  <c:v>45535</c:v>
                </c:pt>
                <c:pt idx="8">
                  <c:v>45565</c:v>
                </c:pt>
                <c:pt idx="9">
                  <c:v>45596</c:v>
                </c:pt>
                <c:pt idx="10">
                  <c:v>45626</c:v>
                </c:pt>
                <c:pt idx="11">
                  <c:v>45657</c:v>
                </c:pt>
              </c:numCache>
            </c:numRef>
          </c:cat>
          <c:val>
            <c:numRef>
              <c:f>Charts!$D$67:$O$67</c:f>
              <c:numCache>
                <c:formatCode>_([$$-409]* #,##0_);_([$$-409]* \(#,##0\);_([$$-409]* "-"??_);_(@_)</c:formatCode>
                <c:ptCount val="12"/>
                <c:pt idx="0">
                  <c:v>1037.9060982191043</c:v>
                </c:pt>
                <c:pt idx="1">
                  <c:v>1067.2712320574165</c:v>
                </c:pt>
                <c:pt idx="2">
                  <c:v>1076.1339680380822</c:v>
                </c:pt>
                <c:pt idx="3">
                  <c:v>1082.9075824811887</c:v>
                </c:pt>
                <c:pt idx="4">
                  <c:v>1079.9128160418484</c:v>
                </c:pt>
                <c:pt idx="5">
                  <c:v>1089.7083603370058</c:v>
                </c:pt>
                <c:pt idx="6">
                  <c:v>1080.0412321125393</c:v>
                </c:pt>
                <c:pt idx="7">
                  <c:v>1113.9752822975015</c:v>
                </c:pt>
                <c:pt idx="8">
                  <c:v>1088.009250693802</c:v>
                </c:pt>
                <c:pt idx="9">
                  <c:v>1105.3907089151448</c:v>
                </c:pt>
                <c:pt idx="10">
                  <c:v>1099.0946502057611</c:v>
                </c:pt>
                <c:pt idx="11">
                  <c:v>1125.8176382660688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36-47B8-A904-311E5A394F5C}"/>
            </c:ext>
          </c:extLst>
        </c:ser>
        <c:ser>
          <c:idx val="1"/>
          <c:order val="1"/>
          <c:tx>
            <c:strRef>
              <c:f>Charts!$B$68</c:f>
              <c:strCache>
                <c:ptCount val="1"/>
                <c:pt idx="0">
                  <c:v>ლისი</c:v>
                </c:pt>
              </c:strCache>
            </c:strRef>
          </c:tx>
          <c:marker>
            <c:symbol val="square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Charts!$D$66:$O$66</c:f>
              <c:numCache>
                <c:formatCode>[$-409]mmm\-yy;@</c:formatCode>
                <c:ptCount val="12"/>
                <c:pt idx="0">
                  <c:v>45322</c:v>
                </c:pt>
                <c:pt idx="1">
                  <c:v>45351</c:v>
                </c:pt>
                <c:pt idx="2">
                  <c:v>45382</c:v>
                </c:pt>
                <c:pt idx="3">
                  <c:v>45412</c:v>
                </c:pt>
                <c:pt idx="4">
                  <c:v>45443</c:v>
                </c:pt>
                <c:pt idx="5">
                  <c:v>45473</c:v>
                </c:pt>
                <c:pt idx="6">
                  <c:v>45504</c:v>
                </c:pt>
                <c:pt idx="7">
                  <c:v>45535</c:v>
                </c:pt>
                <c:pt idx="8">
                  <c:v>45565</c:v>
                </c:pt>
                <c:pt idx="9">
                  <c:v>45596</c:v>
                </c:pt>
                <c:pt idx="10">
                  <c:v>45626</c:v>
                </c:pt>
                <c:pt idx="11">
                  <c:v>45657</c:v>
                </c:pt>
              </c:numCache>
            </c:numRef>
          </c:cat>
          <c:val>
            <c:numRef>
              <c:f>Charts!$D$68:$O$68</c:f>
              <c:numCache>
                <c:formatCode>_([$$-409]* #,##0_);_([$$-409]* \(#,##0\);_([$$-409]* "-"??_);_(@_)</c:formatCode>
                <c:ptCount val="12"/>
                <c:pt idx="0">
                  <c:v>1389.8391780209963</c:v>
                </c:pt>
                <c:pt idx="1">
                  <c:v>1408.5350318471337</c:v>
                </c:pt>
                <c:pt idx="2">
                  <c:v>1306.599190283401</c:v>
                </c:pt>
                <c:pt idx="3">
                  <c:v>1406.4</c:v>
                </c:pt>
                <c:pt idx="4">
                  <c:v>1265.808556925308</c:v>
                </c:pt>
                <c:pt idx="5">
                  <c:v>1378.046875</c:v>
                </c:pt>
                <c:pt idx="6">
                  <c:v>1357.2084250235775</c:v>
                </c:pt>
                <c:pt idx="7">
                  <c:v>1412.0066445182724</c:v>
                </c:pt>
                <c:pt idx="8">
                  <c:v>1374.9783688511457</c:v>
                </c:pt>
                <c:pt idx="9">
                  <c:v>1374.9783688511457</c:v>
                </c:pt>
                <c:pt idx="10">
                  <c:v>1489.8901453957997</c:v>
                </c:pt>
                <c:pt idx="11">
                  <c:v>1434.6619453924916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36-47B8-A904-311E5A394F5C}"/>
            </c:ext>
          </c:extLst>
        </c:ser>
        <c:ser>
          <c:idx val="2"/>
          <c:order val="2"/>
          <c:tx>
            <c:strRef>
              <c:f>Charts!$B$69</c:f>
              <c:strCache>
                <c:ptCount val="1"/>
                <c:pt idx="0">
                  <c:v>უნივერსიტეტი</c:v>
                </c:pt>
              </c:strCache>
            </c:strRef>
          </c:tx>
          <c:marker>
            <c:symbol val="triangle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Charts!$D$66:$O$66</c:f>
              <c:numCache>
                <c:formatCode>[$-409]mmm\-yy;@</c:formatCode>
                <c:ptCount val="12"/>
                <c:pt idx="0">
                  <c:v>45322</c:v>
                </c:pt>
                <c:pt idx="1">
                  <c:v>45351</c:v>
                </c:pt>
                <c:pt idx="2">
                  <c:v>45382</c:v>
                </c:pt>
                <c:pt idx="3">
                  <c:v>45412</c:v>
                </c:pt>
                <c:pt idx="4">
                  <c:v>45443</c:v>
                </c:pt>
                <c:pt idx="5">
                  <c:v>45473</c:v>
                </c:pt>
                <c:pt idx="6">
                  <c:v>45504</c:v>
                </c:pt>
                <c:pt idx="7">
                  <c:v>45535</c:v>
                </c:pt>
                <c:pt idx="8">
                  <c:v>45565</c:v>
                </c:pt>
                <c:pt idx="9">
                  <c:v>45596</c:v>
                </c:pt>
                <c:pt idx="10">
                  <c:v>45626</c:v>
                </c:pt>
                <c:pt idx="11">
                  <c:v>45657</c:v>
                </c:pt>
              </c:numCache>
            </c:numRef>
          </c:cat>
          <c:val>
            <c:numRef>
              <c:f>Charts!$D$69:$O$69</c:f>
              <c:numCache>
                <c:formatCode>_([$$-409]* #,##0_);_([$$-409]* \(#,##0\);_([$$-409]* "-"??_);_(@_)</c:formatCode>
                <c:ptCount val="12"/>
                <c:pt idx="0">
                  <c:v>1496.6494978109711</c:v>
                </c:pt>
                <c:pt idx="1">
                  <c:v>1509.3998461143883</c:v>
                </c:pt>
                <c:pt idx="2">
                  <c:v>1626.2672413793102</c:v>
                </c:pt>
                <c:pt idx="3">
                  <c:v>1606.091719272187</c:v>
                </c:pt>
                <c:pt idx="4">
                  <c:v>1551.8600616808019</c:v>
                </c:pt>
                <c:pt idx="5">
                  <c:v>1589.7352614015572</c:v>
                </c:pt>
                <c:pt idx="6">
                  <c:v>1527.2914501653283</c:v>
                </c:pt>
                <c:pt idx="7">
                  <c:v>1550.4705364995605</c:v>
                </c:pt>
                <c:pt idx="8">
                  <c:v>1569.1176470588236</c:v>
                </c:pt>
                <c:pt idx="9">
                  <c:v>1559.7953676635934</c:v>
                </c:pt>
                <c:pt idx="10">
                  <c:v>1592.1863354037266</c:v>
                </c:pt>
                <c:pt idx="11">
                  <c:v>1621.0362173038232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36-47B8-A904-311E5A394F5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00927896"/>
        <c:axId val="1"/>
      </c:lineChart>
      <c:dateAx>
        <c:axId val="40092789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out"/>
        <c:minorTickMark val="none"/>
        <c:tickLblPos val="nextTo"/>
        <c:crossAx val="400927896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3.3357295306239585E-4"/>
          <c:y val="0.28645833333333331"/>
          <c:w val="0.12050797680012987"/>
          <c:h val="0.44062500000000004"/>
        </c:manualLayout>
      </c:layout>
      <c:overlay val="0"/>
      <c:txPr>
        <a:bodyPr/>
        <a:lstStyle/>
        <a:p>
          <a:pPr>
            <a:defRPr sz="845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474664F-DF9C-48AA-9DA3-B342B4330C19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7FBDB7DB-900E-4B52-9FB8-B2AFF4AFA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80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136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917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681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7822-CBA1-46F9-A374-A93D96027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11B24-2CA9-4F56-89B9-DC5BEEA90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B830-3A7C-4329-BE3A-AB992032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15B83-C84A-49FF-B14B-ADFAD7F9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11749-A2F2-4BF6-917E-129A3DCA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07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F580-D603-48DE-BC9E-0ECBB8D6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DFF6-58D5-4F6A-BB3C-00FE0B107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961E7-AA43-4B18-B413-49663B59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72D45-D6F8-4FF8-9C81-543C7C87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3D74-A20C-43F1-8489-EB791A2F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60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94F1-98A6-424F-ACBF-69B3B425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4E914-4E1D-482B-8955-59EAE08EB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5D416-9079-4E8F-B903-0475623D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B428-BC16-4F12-BF84-A87E4EEE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08D6-80E8-43E2-86CA-17CC12BA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41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9BFD-8491-4337-895F-055D8B8C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4D6D-86D6-4256-B1ED-5C4046DDA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2283F-D1C9-488F-98C7-9482C36A2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D7CB-52C8-4CFD-91D9-38703114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11CAB-2F7D-4195-85D1-CF032B15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56BAC-8BC5-49DC-BB3D-CC375E35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6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728D-227A-497C-8586-43FB7C55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12795-4BBD-46F0-8657-F9E4917EF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AE11-9FAC-4E40-A8F3-2E314270E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596B4-DC18-445A-AB26-E06BB23DE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01855-F87D-45FB-A775-854192D86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3ED49-4C7E-4FEC-9146-96211E69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0CBF1-3B8A-47D0-8ECA-D5BEF2E4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09073-3A48-4B72-98C3-AC319136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6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34B9-4EED-4C62-A766-01A8BD70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B7CA7-EFA3-449E-AFA2-5E9D55EB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896EE-F538-4B94-9645-D1D27E2C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4DC00-AC5A-4775-8C8E-D1116BF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78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8C364-C428-4CF5-8B22-EC3FC101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7E623-597F-4FB9-BB9F-FB217AA8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CA8D-F31A-4963-B60C-AE46B9F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10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BBA7-2C35-4FD8-95D4-3FD1CC08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DFE6-6A96-471A-A950-376BE64A7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8CFC5-2B36-404D-9995-E40FA9E6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8A62-07FF-47C5-BA10-112F9968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2002-DB49-4807-835B-BE934E62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4DAD2-E391-4049-8A0E-2DDE8801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74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2844-AE3A-490C-B942-4FE39D1E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DE005-4F56-477D-9291-36FEF178A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A7C96-4636-4DE2-910D-2CC24A61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07CDC-E1B8-4E87-875A-1597E2CA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07909-CF08-4C5E-9635-90521C81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A579A-B455-4190-BFCC-8A68113A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01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B54C-9DC1-4DBA-9DD8-F1FF174A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4357-6E72-473A-9633-CA05F9F31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D0D7-D771-41D9-8E95-27B2A526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3D86-2604-4B57-B4F2-8F3487E3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1D0EA-36FD-496A-A565-373939FE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72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88324-B16F-4B82-8CF2-7F00BC7BF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E84B0-8CC5-41E6-8063-6FF872AB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7E46-444D-48D5-8471-7A85A388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A9726-6875-4B72-AA1A-9F4633F8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777C-5357-49B9-9D7C-A5D85D56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28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F0123-14DA-456B-8FAC-F479E6CC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6AF2-A9E2-460D-9392-1BACE42F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990A-F095-4A64-9063-223909F99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EB9D1-1B18-4065-9C7D-DADCFC0748DE}" type="datetimeFigureOut">
              <a:rPr lang="ru-RU" smtClean="0"/>
              <a:t>16.01.2025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4BF7-F44F-49E3-B61E-F00BAF6E1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C7962-996F-4425-AA85-177F32829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23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16FE8B-92A4-4329-AEB3-A3165F4C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156" y="2798875"/>
            <a:ext cx="5405688" cy="1260249"/>
          </a:xfrm>
        </p:spPr>
        <p:txBody>
          <a:bodyPr>
            <a:normAutofit fontScale="90000"/>
          </a:bodyPr>
          <a:lstStyle/>
          <a:p>
            <a:r>
              <a:rPr lang="en-US" dirty="0"/>
              <a:t>2024 </a:t>
            </a:r>
            <a:r>
              <a:rPr lang="ka-GE" dirty="0"/>
              <a:t>წლის მიმოხილვა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300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20B420F7-0A29-4717-B0CD-E6E2E6818B71}"/>
              </a:ext>
            </a:extLst>
          </p:cNvPr>
          <p:cNvSpPr txBox="1">
            <a:spLocks/>
          </p:cNvSpPr>
          <p:nvPr/>
        </p:nvSpPr>
        <p:spPr>
          <a:xfrm>
            <a:off x="3568959" y="143338"/>
            <a:ext cx="5054082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დაგეგმილი და რეალური ბიუჯეტი</a:t>
            </a:r>
            <a:endParaRPr lang="en-US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0D4A75-E026-09DB-9A5B-1DD900500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5" y="702214"/>
            <a:ext cx="11993649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6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3CB7D76B-7C89-AF70-736F-57DA77BB3D5A}"/>
              </a:ext>
            </a:extLst>
          </p:cNvPr>
          <p:cNvSpPr txBox="1">
            <a:spLocks/>
          </p:cNvSpPr>
          <p:nvPr/>
        </p:nvSpPr>
        <p:spPr>
          <a:xfrm>
            <a:off x="3951051" y="226889"/>
            <a:ext cx="4289898" cy="37808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400" b="1" dirty="0"/>
              <a:t>შემოსავლები</a:t>
            </a:r>
            <a:r>
              <a:rPr lang="en-US" sz="2400" b="1" dirty="0"/>
              <a:t> (</a:t>
            </a:r>
            <a:r>
              <a:rPr lang="ka-GE" sz="2400" b="1" dirty="0"/>
              <a:t>მლნ. აშშ დოლარი)</a:t>
            </a:r>
            <a:endParaRPr lang="en-US" sz="2400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7499245-AE71-1B3B-3F31-6B62BFD236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580395"/>
              </p:ext>
            </p:extLst>
          </p:nvPr>
        </p:nvGraphicFramePr>
        <p:xfrm>
          <a:off x="781664" y="838200"/>
          <a:ext cx="10628671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09243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5B8B8B98-5B7D-3C21-CB9A-54A55AAE7F74}"/>
              </a:ext>
            </a:extLst>
          </p:cNvPr>
          <p:cNvSpPr txBox="1">
            <a:spLocks/>
          </p:cNvSpPr>
          <p:nvPr/>
        </p:nvSpPr>
        <p:spPr>
          <a:xfrm>
            <a:off x="3692013" y="143338"/>
            <a:ext cx="4807974" cy="426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შემოსავლების</a:t>
            </a:r>
            <a:r>
              <a:rPr lang="en-US" sz="2000" b="1" dirty="0"/>
              <a:t> </a:t>
            </a:r>
            <a:r>
              <a:rPr lang="ka-GE" sz="2000" b="1" dirty="0"/>
              <a:t>და მოგების სტრუქტურა</a:t>
            </a:r>
            <a:endParaRPr lang="en-US" sz="2000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22435B-1202-816F-3D27-A59D837BA219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ACE71-C2C5-A016-8E8A-A877D1D5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82" y="647312"/>
            <a:ext cx="10650436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1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20B420F7-0A29-4717-B0CD-E6E2E6818B71}"/>
              </a:ext>
            </a:extLst>
          </p:cNvPr>
          <p:cNvSpPr txBox="1">
            <a:spLocks/>
          </p:cNvSpPr>
          <p:nvPr/>
        </p:nvSpPr>
        <p:spPr>
          <a:xfrm>
            <a:off x="4553079" y="135698"/>
            <a:ext cx="3085841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გაყიდვების სტატისტიკა</a:t>
            </a:r>
            <a:endParaRPr lang="en-US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B31B8-44B2-4A31-CB64-8087F2B32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1" y="938215"/>
            <a:ext cx="7907523" cy="1078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9FAB6B-14EA-628A-7A5C-D4EA7756A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0325" y="863708"/>
            <a:ext cx="3324689" cy="1381318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0000000-0008-0000-0100-00008A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0666197"/>
              </p:ext>
            </p:extLst>
          </p:nvPr>
        </p:nvGraphicFramePr>
        <p:xfrm>
          <a:off x="136241" y="2687502"/>
          <a:ext cx="5634701" cy="3232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0000000-0008-0000-0100-00008B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7224212"/>
              </p:ext>
            </p:extLst>
          </p:nvPr>
        </p:nvGraphicFramePr>
        <p:xfrm>
          <a:off x="5899871" y="2687502"/>
          <a:ext cx="6155143" cy="3232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95052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EBFD98-7A52-F159-2479-131917604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27" y="4471408"/>
            <a:ext cx="1400372" cy="10002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798819-F854-EAD4-1F43-E2DAF720D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908" y="3963190"/>
            <a:ext cx="3238348" cy="1591496"/>
          </a:xfrm>
          <a:prstGeom prst="rect">
            <a:avLst/>
          </a:prstGeom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100-00008C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6536695"/>
              </p:ext>
            </p:extLst>
          </p:nvPr>
        </p:nvGraphicFramePr>
        <p:xfrm>
          <a:off x="575727" y="143338"/>
          <a:ext cx="10839525" cy="359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1518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D5F5962F-EEDA-B4DB-E169-BAA9F65B5281}"/>
              </a:ext>
            </a:extLst>
          </p:cNvPr>
          <p:cNvSpPr txBox="1">
            <a:spLocks/>
          </p:cNvSpPr>
          <p:nvPr/>
        </p:nvSpPr>
        <p:spPr>
          <a:xfrm>
            <a:off x="3956572" y="149370"/>
            <a:ext cx="4278855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/>
              <a:t>კომერციულების გაყიდვა ჯიქიაზე</a:t>
            </a:r>
            <a:endParaRPr lang="en-US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87F09B-D35E-844C-7ECA-CE88CBE80D2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</a:t>
            </a:r>
            <a:r>
              <a:rPr lang="en-US" sz="1200" dirty="0"/>
              <a:t> 31.12.2024</a:t>
            </a:r>
            <a:r>
              <a:rPr lang="ka-GE" sz="1200" dirty="0"/>
              <a:t> </a:t>
            </a:r>
            <a:endParaRPr lang="ru-RU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A859D-0FF2-7306-7DC5-238916D09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039" y="1305560"/>
            <a:ext cx="9107922" cy="424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0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E16B6B-1796-3C32-157A-4CEF6E9B8C9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D9E88D9F-99F6-B951-6DC5-348017F7B608}"/>
              </a:ext>
            </a:extLst>
          </p:cNvPr>
          <p:cNvSpPr txBox="1">
            <a:spLocks/>
          </p:cNvSpPr>
          <p:nvPr/>
        </p:nvSpPr>
        <p:spPr>
          <a:xfrm>
            <a:off x="4574157" y="107465"/>
            <a:ext cx="3043684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მიმდინარე პროექტები</a:t>
            </a: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840F5D-0754-62FD-F9DB-16D11E28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598"/>
            <a:ext cx="12192000" cy="547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61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E16B6B-1796-3C32-157A-4CEF6E9B8C9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D9E88D9F-99F6-B951-6DC5-348017F7B608}"/>
              </a:ext>
            </a:extLst>
          </p:cNvPr>
          <p:cNvSpPr txBox="1">
            <a:spLocks/>
          </p:cNvSpPr>
          <p:nvPr/>
        </p:nvSpPr>
        <p:spPr>
          <a:xfrm>
            <a:off x="4574157" y="107465"/>
            <a:ext cx="3043684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/>
              <a:t>მიმდინარე პროექტები</a:t>
            </a: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90D06D-C80F-B399-0A50-B7B4C2E7E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7" y="761628"/>
            <a:ext cx="1156496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5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E16B6B-1796-3C32-157A-4CEF6E9B8C9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D9E88D9F-99F6-B951-6DC5-348017F7B608}"/>
              </a:ext>
            </a:extLst>
          </p:cNvPr>
          <p:cNvSpPr txBox="1">
            <a:spLocks/>
          </p:cNvSpPr>
          <p:nvPr/>
        </p:nvSpPr>
        <p:spPr>
          <a:xfrm>
            <a:off x="4574157" y="107465"/>
            <a:ext cx="3043684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მიმდინარე პროექტები</a:t>
            </a: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822C2B-BADD-7FC2-F84E-7232DA9A0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48" y="652075"/>
            <a:ext cx="11469701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66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 txBox="1">
            <a:spLocks/>
          </p:cNvSpPr>
          <p:nvPr/>
        </p:nvSpPr>
        <p:spPr>
          <a:xfrm>
            <a:off x="4621354" y="215970"/>
            <a:ext cx="2949290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2024 წლის შედეგები</a:t>
            </a:r>
            <a:endParaRPr lang="en-US" sz="2000" b="1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D37B99-14B8-4C43-9D75-61AFB3BC6724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C6D936-66C0-A0F9-44BE-21AEDD799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848" y="1306690"/>
            <a:ext cx="8296303" cy="424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3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BBDC-E8B4-79E1-09E4-30A80E6CB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AB8067F1-09BF-6F30-B1B3-55CFEED573C5}"/>
              </a:ext>
            </a:extLst>
          </p:cNvPr>
          <p:cNvSpPr txBox="1">
            <a:spLocks/>
          </p:cNvSpPr>
          <p:nvPr/>
        </p:nvSpPr>
        <p:spPr>
          <a:xfrm>
            <a:off x="4315755" y="107466"/>
            <a:ext cx="3382904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2025 წლის წინასწარი გეგმა</a:t>
            </a:r>
            <a:r>
              <a:rPr lang="en-US" sz="2000" b="1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593BF9-C09C-EA57-75CF-479987CB1DB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31.12.2024</a:t>
            </a:r>
            <a:endParaRPr lang="ru-RU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A852D6-101D-4314-B4C1-D3ABD9885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5" y="502456"/>
            <a:ext cx="11336592" cy="587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236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18916</TotalTime>
  <Words>121</Words>
  <Application>Microsoft Office PowerPoint</Application>
  <PresentationFormat>Widescreen</PresentationFormat>
  <Paragraphs>55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Sylfaen</vt:lpstr>
      <vt:lpstr>Office Theme</vt:lpstr>
      <vt:lpstr>2024 წლის მიმოხილვა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Beso</dc:creator>
  <cp:lastModifiedBy>beso Ortoidze</cp:lastModifiedBy>
  <cp:revision>170</cp:revision>
  <dcterms:created xsi:type="dcterms:W3CDTF">2020-10-15T19:38:02Z</dcterms:created>
  <dcterms:modified xsi:type="dcterms:W3CDTF">2025-01-16T07:03:40Z</dcterms:modified>
</cp:coreProperties>
</file>