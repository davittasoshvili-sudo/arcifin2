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drawings/drawing1.xml" ContentType="application/vnd.openxmlformats-officedocument.drawingml.chartshape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2" r:id="rId2"/>
    <p:sldId id="304" r:id="rId3"/>
    <p:sldId id="295" r:id="rId4"/>
    <p:sldId id="297" r:id="rId5"/>
    <p:sldId id="307" r:id="rId6"/>
    <p:sldId id="310" r:id="rId7"/>
    <p:sldId id="309" r:id="rId8"/>
    <p:sldId id="302" r:id="rId9"/>
    <p:sldId id="298" r:id="rId10"/>
  </p:sldIdLst>
  <p:sldSz cx="12192000" cy="6858000"/>
  <p:notesSz cx="9388475" cy="710247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6B9A338-AACD-6A96-D3F9-881CA4058909}" name="beso Ortoidze" initials="bO" userId="9441844aa767b202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eso" initials="B" lastIdx="7" clrIdx="0">
    <p:extLst>
      <p:ext uri="{19B8F6BF-5375-455C-9EA6-DF929625EA0E}">
        <p15:presenceInfo xmlns:p15="http://schemas.microsoft.com/office/powerpoint/2012/main" userId="Beso" providerId="None"/>
      </p:ext>
    </p:extLst>
  </p:cmAuthor>
  <p:cmAuthor id="2" name="Beso Ortoidze" initials="B" lastIdx="2" clrIdx="1">
    <p:extLst>
      <p:ext uri="{19B8F6BF-5375-455C-9EA6-DF929625EA0E}">
        <p15:presenceInfo xmlns:p15="http://schemas.microsoft.com/office/powerpoint/2012/main" userId="Beso Ortoidze" providerId="None"/>
      </p:ext>
    </p:extLst>
  </p:cmAuthor>
  <p:cmAuthor id="3" name="beso Ortoidze" initials="bO" lastIdx="2" clrIdx="2">
    <p:extLst>
      <p:ext uri="{19B8F6BF-5375-455C-9EA6-DF929625EA0E}">
        <p15:presenceInfo xmlns:p15="http://schemas.microsoft.com/office/powerpoint/2012/main" userId="9441844aa767b20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6\03.312026%20-%20Statistic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G:\My%20Drive\WORK\Finance\&#4321;&#4322;&#4304;&#4322;&#4312;&#4321;&#4322;&#4312;&#4313;&#4304;\2026\03.312026%20-%20Statistics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G:\My%20Drive\WORK\Finance\&#4321;&#4322;&#4304;&#4322;&#4312;&#4321;&#4322;&#4312;&#4313;&#4304;\2026\03.312026%20-%20Statistic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გაყიდვები (საცხოვრებელი) რ-ბა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Charts!$B$5</c:f>
              <c:strCache>
                <c:ptCount val="1"/>
                <c:pt idx="0">
                  <c:v>გაყიდვები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45747</c:v>
                </c:pt>
                <c:pt idx="1">
                  <c:v>45777</c:v>
                </c:pt>
                <c:pt idx="2">
                  <c:v>45808</c:v>
                </c:pt>
                <c:pt idx="3">
                  <c:v>45838</c:v>
                </c:pt>
                <c:pt idx="4">
                  <c:v>45869</c:v>
                </c:pt>
                <c:pt idx="5">
                  <c:v>45900</c:v>
                </c:pt>
                <c:pt idx="6">
                  <c:v>45930</c:v>
                </c:pt>
                <c:pt idx="7">
                  <c:v>45961</c:v>
                </c:pt>
                <c:pt idx="8">
                  <c:v>45991</c:v>
                </c:pt>
                <c:pt idx="9">
                  <c:v>46022</c:v>
                </c:pt>
                <c:pt idx="10">
                  <c:v>46053</c:v>
                </c:pt>
                <c:pt idx="11">
                  <c:v>46081</c:v>
                </c:pt>
                <c:pt idx="12">
                  <c:v>46112</c:v>
                </c:pt>
              </c:numCache>
            </c:numRef>
          </c:cat>
          <c:val>
            <c:numRef>
              <c:f>Charts!$C$5:$O$5</c:f>
              <c:numCache>
                <c:formatCode>General</c:formatCode>
                <c:ptCount val="13"/>
                <c:pt idx="0">
                  <c:v>26</c:v>
                </c:pt>
                <c:pt idx="1">
                  <c:v>25</c:v>
                </c:pt>
                <c:pt idx="2">
                  <c:v>40</c:v>
                </c:pt>
                <c:pt idx="3">
                  <c:v>19</c:v>
                </c:pt>
                <c:pt idx="4">
                  <c:v>22</c:v>
                </c:pt>
                <c:pt idx="5">
                  <c:v>19</c:v>
                </c:pt>
                <c:pt idx="6">
                  <c:v>27</c:v>
                </c:pt>
                <c:pt idx="7">
                  <c:v>32</c:v>
                </c:pt>
                <c:pt idx="8">
                  <c:v>23</c:v>
                </c:pt>
                <c:pt idx="9">
                  <c:v>25</c:v>
                </c:pt>
                <c:pt idx="10">
                  <c:v>24</c:v>
                </c:pt>
                <c:pt idx="11">
                  <c:v>37</c:v>
                </c:pt>
                <c:pt idx="12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63-4730-BD28-E57A5462B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00926256"/>
        <c:axId val="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Charts!$B$6</c15:sqref>
                        </c15:formulaRef>
                      </c:ext>
                    </c:extLst>
                    <c:strCache>
                      <c:ptCount val="1"/>
                      <c:pt idx="0">
                        <c:v>სტოკი</c:v>
                      </c:pt>
                    </c:strCache>
                  </c:strRef>
                </c:tx>
                <c:spPr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</c:spPr>
                <c:invertIfNegative val="0"/>
                <c:dLbls>
                  <c:dLbl>
                    <c:idx val="1"/>
                    <c:layout>
                      <c:manualLayout>
                        <c:x val="-2.0871434868797559E-2"/>
                        <c:y val="1.5900723395272702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B-7D63-4730-BD28-E57A5462BDD9}"/>
                      </c:ext>
                    </c:extLst>
                  </c:dLbl>
                  <c:dLbl>
                    <c:idx val="2"/>
                    <c:layout>
                      <c:manualLayout>
                        <c:x val="0"/>
                        <c:y val="6.3602893581089642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C-7D63-4730-BD28-E57A5462BDD9}"/>
                      </c:ext>
                    </c:extLst>
                  </c:dLbl>
                  <c:dLbl>
                    <c:idx val="3"/>
                    <c:layout>
                      <c:manualLayout>
                        <c:x val="6.4219799596300182E-3"/>
                        <c:y val="3.1801446790545407E-3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D-7D63-4730-BD28-E57A5462BDD9}"/>
                      </c:ext>
                    </c:extLst>
                  </c:dLbl>
                  <c:dLbl>
                    <c:idx val="6"/>
                    <c:layout>
                      <c:manualLayout>
                        <c:x val="-1.444945490916754E-2"/>
                        <c:y val="1.2720578716218104E-2"/>
                      </c:manualLayout>
                    </c:layout>
                    <c:spPr>
                      <a:noFill/>
                      <a:ln w="25400">
                        <a:noFill/>
                      </a:ln>
                    </c:spPr>
                    <c:txPr>
                      <a:bodyPr/>
                      <a:lstStyle/>
                      <a:p>
                        <a:pPr>
                          <a:defRPr sz="1000" b="0" i="0" u="none" strike="noStrike" baseline="0">
                            <a:solidFill>
                              <a:srgbClr val="000000"/>
                            </a:solidFill>
                            <a:latin typeface="Calibri"/>
                            <a:ea typeface="Calibri"/>
                            <a:cs typeface="Calibri"/>
                          </a:defRPr>
                        </a:pPr>
                        <a:endParaRPr lang="en-US"/>
                      </a:p>
                    </c:txPr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E-7D63-4730-BD28-E57A5462BDD9}"/>
                      </c:ext>
                    </c:extLst>
                  </c:dLbl>
                  <c:spPr>
                    <a:noFill/>
                    <a:ln w="25400">
                      <a:noFill/>
                    </a:ln>
                  </c:spPr>
                  <c:txPr>
                    <a:bodyPr wrap="square" lIns="38100" tIns="19050" rIns="38100" bIns="19050" anchor="ctr">
                      <a:spAutoFit/>
                    </a:bodyPr>
                    <a:lstStyle/>
                    <a:p>
                      <a:pPr>
                        <a:defRPr sz="1000" b="0" i="0" u="none" strike="noStrike" baseline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0"/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Charts!$C$3:$O$3</c15:sqref>
                        </c15:formulaRef>
                      </c:ext>
                    </c:extLst>
                    <c:numCache>
                      <c:formatCode>[$-409]mmm\-yy;@</c:formatCode>
                      <c:ptCount val="13"/>
                      <c:pt idx="0">
                        <c:v>45747</c:v>
                      </c:pt>
                      <c:pt idx="1">
                        <c:v>45777</c:v>
                      </c:pt>
                      <c:pt idx="2">
                        <c:v>45808</c:v>
                      </c:pt>
                      <c:pt idx="3">
                        <c:v>45838</c:v>
                      </c:pt>
                      <c:pt idx="4">
                        <c:v>45869</c:v>
                      </c:pt>
                      <c:pt idx="5">
                        <c:v>45900</c:v>
                      </c:pt>
                      <c:pt idx="6">
                        <c:v>45930</c:v>
                      </c:pt>
                      <c:pt idx="7">
                        <c:v>45961</c:v>
                      </c:pt>
                      <c:pt idx="8">
                        <c:v>45991</c:v>
                      </c:pt>
                      <c:pt idx="9">
                        <c:v>46022</c:v>
                      </c:pt>
                      <c:pt idx="10">
                        <c:v>46053</c:v>
                      </c:pt>
                      <c:pt idx="11">
                        <c:v>46081</c:v>
                      </c:pt>
                      <c:pt idx="12">
                        <c:v>46112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Charts!$C$6:$O$6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281</c:v>
                      </c:pt>
                      <c:pt idx="1">
                        <c:v>255</c:v>
                      </c:pt>
                      <c:pt idx="2">
                        <c:v>230</c:v>
                      </c:pt>
                      <c:pt idx="3">
                        <c:v>316</c:v>
                      </c:pt>
                      <c:pt idx="4">
                        <c:v>297</c:v>
                      </c:pt>
                      <c:pt idx="5">
                        <c:v>297</c:v>
                      </c:pt>
                      <c:pt idx="6">
                        <c:v>322</c:v>
                      </c:pt>
                      <c:pt idx="7">
                        <c:v>295</c:v>
                      </c:pt>
                      <c:pt idx="8">
                        <c:v>263</c:v>
                      </c:pt>
                      <c:pt idx="9">
                        <c:v>240</c:v>
                      </c:pt>
                      <c:pt idx="10">
                        <c:v>215</c:v>
                      </c:pt>
                      <c:pt idx="11">
                        <c:v>191</c:v>
                      </c:pt>
                      <c:pt idx="12">
                        <c:v>250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F-7D63-4730-BD28-E57A5462BDD9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2"/>
          <c:order val="2"/>
          <c:tx>
            <c:strRef>
              <c:f>Charts!$B$7</c:f>
              <c:strCache>
                <c:ptCount val="1"/>
                <c:pt idx="0">
                  <c:v>%</c:v>
                </c:pt>
              </c:strCache>
            </c:strRef>
          </c:tx>
          <c:spPr>
            <a:ln w="3492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pPr>
              <a:ln>
                <a:solidFill>
                  <a:schemeClr val="accent2">
                    <a:lumMod val="75000"/>
                  </a:schemeClr>
                </a:solidFill>
              </a:ln>
            </c:spPr>
          </c:marker>
          <c:dLbls>
            <c:dLbl>
              <c:idx val="0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D63-4730-BD28-E57A5462BDD9}"/>
                </c:ext>
              </c:extLst>
            </c:dLbl>
            <c:dLbl>
              <c:idx val="1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7D63-4730-BD28-E57A5462BDD9}"/>
                </c:ext>
              </c:extLst>
            </c:dLbl>
            <c:dLbl>
              <c:idx val="2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7D63-4730-BD28-E57A5462BDD9}"/>
                </c:ext>
              </c:extLst>
            </c:dLbl>
            <c:dLbl>
              <c:idx val="3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7D63-4730-BD28-E57A5462BDD9}"/>
                </c:ext>
              </c:extLst>
            </c:dLbl>
            <c:dLbl>
              <c:idx val="4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7D63-4730-BD28-E57A5462BDD9}"/>
                </c:ext>
              </c:extLst>
            </c:dLbl>
            <c:dLbl>
              <c:idx val="5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7D63-4730-BD28-E57A5462BDD9}"/>
                </c:ext>
              </c:extLst>
            </c:dLbl>
            <c:dLbl>
              <c:idx val="8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7D63-4730-BD28-E57A5462BDD9}"/>
                </c:ext>
              </c:extLst>
            </c:dLbl>
            <c:dLbl>
              <c:idx val="9"/>
              <c:spPr>
                <a:noFill/>
                <a:ln w="25400">
                  <a:noFill/>
                </a:ln>
              </c:spPr>
              <c:txPr>
                <a:bodyPr/>
                <a:lstStyle/>
                <a:p>
                  <a:pPr>
                    <a:defRPr sz="1000" b="1" i="0" u="none" strike="noStrike" baseline="0">
                      <a:solidFill>
                        <a:schemeClr val="bg1"/>
                      </a:solidFill>
                      <a:latin typeface="Calibri"/>
                      <a:ea typeface="Calibri"/>
                      <a:cs typeface="Calibri"/>
                    </a:defRPr>
                  </a:pPr>
                  <a:endParaRPr lang="en-US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7D63-4730-BD28-E57A5462BDD9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5D79EE79-4E24-469D-AD04-99B3C84A16B8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7D63-4730-BD28-E57A5462BDD9}"/>
                </c:ext>
              </c:extLst>
            </c:dLbl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1" i="0" u="none" strike="noStrike" baseline="0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45747</c:v>
                </c:pt>
                <c:pt idx="1">
                  <c:v>45777</c:v>
                </c:pt>
                <c:pt idx="2">
                  <c:v>45808</c:v>
                </c:pt>
                <c:pt idx="3">
                  <c:v>45838</c:v>
                </c:pt>
                <c:pt idx="4">
                  <c:v>45869</c:v>
                </c:pt>
                <c:pt idx="5">
                  <c:v>45900</c:v>
                </c:pt>
                <c:pt idx="6">
                  <c:v>45930</c:v>
                </c:pt>
                <c:pt idx="7">
                  <c:v>45961</c:v>
                </c:pt>
                <c:pt idx="8">
                  <c:v>45991</c:v>
                </c:pt>
                <c:pt idx="9">
                  <c:v>46022</c:v>
                </c:pt>
                <c:pt idx="10">
                  <c:v>46053</c:v>
                </c:pt>
                <c:pt idx="11">
                  <c:v>46081</c:v>
                </c:pt>
                <c:pt idx="12">
                  <c:v>46112</c:v>
                </c:pt>
              </c:numCache>
            </c:numRef>
          </c:cat>
          <c:val>
            <c:numRef>
              <c:f>Charts!$C$7:$O$7</c:f>
              <c:numCache>
                <c:formatCode>0%</c:formatCode>
                <c:ptCount val="13"/>
                <c:pt idx="0">
                  <c:v>9.2526690391459068E-2</c:v>
                </c:pt>
                <c:pt idx="1">
                  <c:v>9.8039215686274508E-2</c:v>
                </c:pt>
                <c:pt idx="2">
                  <c:v>0.17391304347826086</c:v>
                </c:pt>
                <c:pt idx="3">
                  <c:v>6.0126582278481014E-2</c:v>
                </c:pt>
                <c:pt idx="4">
                  <c:v>7.407407407407407E-2</c:v>
                </c:pt>
                <c:pt idx="5">
                  <c:v>6.3973063973063973E-2</c:v>
                </c:pt>
                <c:pt idx="6">
                  <c:v>8.3850931677018639E-2</c:v>
                </c:pt>
                <c:pt idx="7">
                  <c:v>0.10847457627118644</c:v>
                </c:pt>
                <c:pt idx="8">
                  <c:v>8.7452471482889732E-2</c:v>
                </c:pt>
                <c:pt idx="9">
                  <c:v>0.10416666666666667</c:v>
                </c:pt>
                <c:pt idx="10">
                  <c:v>0.11162790697674418</c:v>
                </c:pt>
                <c:pt idx="11">
                  <c:v>0.193717277486911</c:v>
                </c:pt>
                <c:pt idx="1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7D63-4730-BD28-E57A5462B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5801439"/>
        <c:axId val="1005806239"/>
      </c:lineChart>
      <c:dateAx>
        <c:axId val="40092625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6256"/>
        <c:crosses val="autoZero"/>
        <c:crossBetween val="between"/>
      </c:valAx>
      <c:valAx>
        <c:axId val="1005806239"/>
        <c:scaling>
          <c:orientation val="minMax"/>
          <c:max val="0.30000000000000004"/>
        </c:scaling>
        <c:delete val="0"/>
        <c:axPos val="r"/>
        <c:numFmt formatCode="0%" sourceLinked="1"/>
        <c:majorTickMark val="out"/>
        <c:minorTickMark val="none"/>
        <c:tickLblPos val="nextTo"/>
        <c:crossAx val="1005801439"/>
        <c:crosses val="max"/>
        <c:crossBetween val="between"/>
      </c:valAx>
      <c:dateAx>
        <c:axId val="1005801439"/>
        <c:scaling>
          <c:orientation val="minMax"/>
        </c:scaling>
        <c:delete val="1"/>
        <c:axPos val="b"/>
        <c:numFmt formatCode="[$-409]mmm\-yy;@" sourceLinked="1"/>
        <c:majorTickMark val="out"/>
        <c:minorTickMark val="none"/>
        <c:tickLblPos val="nextTo"/>
        <c:crossAx val="1005806239"/>
        <c:crosses val="autoZero"/>
        <c:auto val="1"/>
        <c:lblOffset val="100"/>
        <c:baseTimeUnit val="months"/>
        <c:majorUnit val="1"/>
        <c:minorUnit val="1"/>
      </c:date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ჯამური კონტრაქტები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0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7.8278721936294662E-2"/>
          <c:y val="0.18918072184410553"/>
          <c:w val="0.85941722837561074"/>
          <c:h val="0.62913737642207757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 w="25400">
                <a:noFill/>
              </a:ln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 b="0" i="0" u="none" strike="noStrike" baseline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Charts!$C$3:$O$3</c:f>
              <c:numCache>
                <c:formatCode>[$-409]mmm\-yy;@</c:formatCode>
                <c:ptCount val="13"/>
                <c:pt idx="0">
                  <c:v>45747</c:v>
                </c:pt>
                <c:pt idx="1">
                  <c:v>45777</c:v>
                </c:pt>
                <c:pt idx="2">
                  <c:v>45808</c:v>
                </c:pt>
                <c:pt idx="3">
                  <c:v>45838</c:v>
                </c:pt>
                <c:pt idx="4">
                  <c:v>45869</c:v>
                </c:pt>
                <c:pt idx="5">
                  <c:v>45900</c:v>
                </c:pt>
                <c:pt idx="6">
                  <c:v>45930</c:v>
                </c:pt>
                <c:pt idx="7">
                  <c:v>45961</c:v>
                </c:pt>
                <c:pt idx="8">
                  <c:v>45991</c:v>
                </c:pt>
                <c:pt idx="9">
                  <c:v>46022</c:v>
                </c:pt>
                <c:pt idx="10">
                  <c:v>46053</c:v>
                </c:pt>
                <c:pt idx="11">
                  <c:v>46081</c:v>
                </c:pt>
                <c:pt idx="12">
                  <c:v>46112</c:v>
                </c:pt>
              </c:numCache>
            </c:numRef>
          </c:cat>
          <c:val>
            <c:numRef>
              <c:f>REPORT!$BP$14:$CB$14</c:f>
              <c:numCache>
                <c:formatCode>_([$$-409]* #,##0_);_([$$-409]* \(#,##0\);_([$$-409]* "-"??_);_(@_)</c:formatCode>
                <c:ptCount val="13"/>
                <c:pt idx="0">
                  <c:v>3070120</c:v>
                </c:pt>
                <c:pt idx="1">
                  <c:v>2770945</c:v>
                </c:pt>
                <c:pt idx="2">
                  <c:v>4373949</c:v>
                </c:pt>
                <c:pt idx="3">
                  <c:v>2445465.6799999997</c:v>
                </c:pt>
                <c:pt idx="4">
                  <c:v>2501083</c:v>
                </c:pt>
                <c:pt idx="5">
                  <c:v>2350038</c:v>
                </c:pt>
                <c:pt idx="6">
                  <c:v>3123774</c:v>
                </c:pt>
                <c:pt idx="7">
                  <c:v>3677144</c:v>
                </c:pt>
                <c:pt idx="8">
                  <c:v>3484141</c:v>
                </c:pt>
                <c:pt idx="9">
                  <c:v>3099288</c:v>
                </c:pt>
                <c:pt idx="10">
                  <c:v>2567612</c:v>
                </c:pt>
                <c:pt idx="11">
                  <c:v>4054239</c:v>
                </c:pt>
                <c:pt idx="12">
                  <c:v>3964389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A4-4A62-A949-336DBA5331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00929864"/>
        <c:axId val="1"/>
      </c:barChart>
      <c:dateAx>
        <c:axId val="400929864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none"/>
        <c:minorTickMark val="none"/>
        <c:tickLblPos val="nextTo"/>
        <c:spPr>
          <a:ln w="6350">
            <a:noFill/>
          </a:ln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400929864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en-US" sz="1800" b="1" i="0" u="none" strike="noStrike" baseline="0">
                <a:solidFill>
                  <a:srgbClr val="000000"/>
                </a:solidFill>
                <a:latin typeface="Sylfaen"/>
              </a:rPr>
              <a:t>საცხოვრებელის საშუალო გასაყიდი ფასი</a:t>
            </a: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 sz="1800" b="1" i="0" u="none" strike="noStrike" baseline="0">
              <a:solidFill>
                <a:srgbClr val="000000"/>
              </a:solidFill>
              <a:latin typeface="Calibri"/>
              <a:cs typeface="Calibri"/>
            </a:endParaRPr>
          </a:p>
        </c:rich>
      </c:tx>
      <c:overlay val="1"/>
      <c:spPr>
        <a:noFill/>
        <a:ln w="25400">
          <a:noFill/>
        </a:ln>
      </c:spPr>
    </c:title>
    <c:autoTitleDeleted val="0"/>
    <c:plotArea>
      <c:layout>
        <c:manualLayout>
          <c:layoutTarget val="inner"/>
          <c:xMode val="edge"/>
          <c:yMode val="edge"/>
          <c:x val="0.13930101367302578"/>
          <c:y val="0.21374843793191048"/>
          <c:w val="0.84315416446986846"/>
          <c:h val="0.60456971184566111"/>
        </c:manualLayout>
      </c:layout>
      <c:lineChart>
        <c:grouping val="standard"/>
        <c:varyColors val="0"/>
        <c:ser>
          <c:idx val="0"/>
          <c:order val="0"/>
          <c:tx>
            <c:strRef>
              <c:f>Charts!$B$67</c:f>
              <c:strCache>
                <c:ptCount val="1"/>
                <c:pt idx="0">
                  <c:v>უნივერსიტეტი</c:v>
                </c:pt>
              </c:strCache>
            </c:strRef>
          </c:tx>
          <c:spPr>
            <a:ln w="25400">
              <a:noFill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2.592964531979592E-2"/>
                  <c:y val="1.885369532428348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4B-4C09-B31D-4BEEF8B23EB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4B-4C09-B31D-4BEEF8B23EB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4B-4C09-B31D-4BEEF8B23EB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4B-4C09-B31D-4BEEF8B23EB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04B-4C09-B31D-4BEEF8B23EB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4B-4C09-B31D-4BEEF8B23EB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04B-4C09-B31D-4BEEF8B23EB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4B-4C09-B31D-4BEEF8B23EB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04B-4C09-B31D-4BEEF8B23EB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04B-4C09-B31D-4BEEF8B23EB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04B-4C09-B31D-4BEEF8B23EB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04B-4C09-B31D-4BEEF8B23EBB}"/>
                </c:ext>
              </c:extLst>
            </c:dLbl>
            <c:dLbl>
              <c:idx val="12"/>
              <c:layout>
                <c:manualLayout>
                  <c:x val="-2.7144411152762227E-2"/>
                  <c:y val="-2.262443438914027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04B-4C09-B31D-4BEEF8B23EB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28575">
                <a:solidFill>
                  <a:schemeClr val="accent5"/>
                </a:solidFill>
              </a:ln>
            </c:spPr>
            <c:trendlineType val="linear"/>
            <c:dispRSqr val="0"/>
            <c:dispEq val="0"/>
          </c:trendline>
          <c:cat>
            <c:numRef>
              <c:f>Charts!$C$66:$O$66</c:f>
              <c:numCache>
                <c:formatCode>[$-409]mmm\-yy;@</c:formatCode>
                <c:ptCount val="13"/>
                <c:pt idx="0">
                  <c:v>45747</c:v>
                </c:pt>
                <c:pt idx="1">
                  <c:v>45777</c:v>
                </c:pt>
                <c:pt idx="2">
                  <c:v>45808</c:v>
                </c:pt>
                <c:pt idx="3">
                  <c:v>45838</c:v>
                </c:pt>
                <c:pt idx="4">
                  <c:v>45869</c:v>
                </c:pt>
                <c:pt idx="5">
                  <c:v>45900</c:v>
                </c:pt>
                <c:pt idx="6">
                  <c:v>45930</c:v>
                </c:pt>
                <c:pt idx="7">
                  <c:v>45961</c:v>
                </c:pt>
                <c:pt idx="8">
                  <c:v>45991</c:v>
                </c:pt>
                <c:pt idx="9">
                  <c:v>46022</c:v>
                </c:pt>
                <c:pt idx="10">
                  <c:v>46053</c:v>
                </c:pt>
                <c:pt idx="11">
                  <c:v>46081</c:v>
                </c:pt>
                <c:pt idx="12">
                  <c:v>46112</c:v>
                </c:pt>
              </c:numCache>
            </c:numRef>
          </c:cat>
          <c:val>
            <c:numRef>
              <c:f>Charts!$C$67:$O$67</c:f>
              <c:numCache>
                <c:formatCode>_([$$-409]* #,##0_);_([$$-409]* \(#,##0\);_([$$-409]* "-"??_);_(@_)</c:formatCode>
                <c:ptCount val="13"/>
                <c:pt idx="0">
                  <c:v>1664.9849548645939</c:v>
                </c:pt>
                <c:pt idx="1">
                  <c:v>1645.0407830342576</c:v>
                </c:pt>
                <c:pt idx="2">
                  <c:v>1675.2812293655077</c:v>
                </c:pt>
                <c:pt idx="3">
                  <c:v>1752.5914315569489</c:v>
                </c:pt>
                <c:pt idx="4">
                  <c:v>1792.6547406082291</c:v>
                </c:pt>
                <c:pt idx="5">
                  <c:v>2010.1412639405205</c:v>
                </c:pt>
                <c:pt idx="6">
                  <c:v>1812.1788919839057</c:v>
                </c:pt>
                <c:pt idx="7">
                  <c:v>1792.8824907934384</c:v>
                </c:pt>
                <c:pt idx="8">
                  <c:v>1931.9349251515525</c:v>
                </c:pt>
                <c:pt idx="9">
                  <c:v>1811.7527509544122</c:v>
                </c:pt>
                <c:pt idx="10">
                  <c:v>1788.921867072552</c:v>
                </c:pt>
                <c:pt idx="11">
                  <c:v>1981.2086609259957</c:v>
                </c:pt>
                <c:pt idx="12">
                  <c:v>1799.8156244060062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804B-4C09-B31D-4BEEF8B23EBB}"/>
            </c:ext>
          </c:extLst>
        </c:ser>
        <c:ser>
          <c:idx val="1"/>
          <c:order val="1"/>
          <c:tx>
            <c:strRef>
              <c:f>Charts!$B$68</c:f>
              <c:strCache>
                <c:ptCount val="1"/>
                <c:pt idx="0">
                  <c:v>ლისი</c:v>
                </c:pt>
              </c:strCache>
            </c:strRef>
          </c:tx>
          <c:spPr>
            <a:ln w="25400">
              <a:noFill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2715748107986477E-2"/>
                  <c:y val="2.639517345399698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/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04B-4C09-B31D-4BEEF8B23EB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804B-4C09-B31D-4BEEF8B23EB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04B-4C09-B31D-4BEEF8B23EB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804B-4C09-B31D-4BEEF8B23EB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04B-4C09-B31D-4BEEF8B23EB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804B-4C09-B31D-4BEEF8B23EB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04B-4C09-B31D-4BEEF8B23EB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04B-4C09-B31D-4BEEF8B23EB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804B-4C09-B31D-4BEEF8B23EB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804B-4C09-B31D-4BEEF8B23EB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04B-4C09-B31D-4BEEF8B23EB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04B-4C09-B31D-4BEEF8B23EBB}"/>
                </c:ext>
              </c:extLst>
            </c:dLbl>
            <c:dLbl>
              <c:idx val="12"/>
              <c:layout>
                <c:manualLayout>
                  <c:x val="-4.7421500019396497E-2"/>
                  <c:y val="3.393665158371040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/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804B-4C09-B31D-4BEEF8B23EBB}"/>
                </c:ext>
              </c:extLst>
            </c:dLbl>
            <c:spPr>
              <a:noFill/>
              <a:ln>
                <a:noFill/>
              </a:ln>
              <a:effectLst/>
            </c:sp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28575">
                <a:solidFill>
                  <a:schemeClr val="accent2"/>
                </a:solidFill>
              </a:ln>
            </c:spPr>
            <c:trendlineType val="linear"/>
            <c:dispRSqr val="0"/>
            <c:dispEq val="0"/>
          </c:trendline>
          <c:cat>
            <c:numRef>
              <c:f>Charts!$C$66:$O$66</c:f>
              <c:numCache>
                <c:formatCode>[$-409]mmm\-yy;@</c:formatCode>
                <c:ptCount val="13"/>
                <c:pt idx="0">
                  <c:v>45747</c:v>
                </c:pt>
                <c:pt idx="1">
                  <c:v>45777</c:v>
                </c:pt>
                <c:pt idx="2">
                  <c:v>45808</c:v>
                </c:pt>
                <c:pt idx="3">
                  <c:v>45838</c:v>
                </c:pt>
                <c:pt idx="4">
                  <c:v>45869</c:v>
                </c:pt>
                <c:pt idx="5">
                  <c:v>45900</c:v>
                </c:pt>
                <c:pt idx="6">
                  <c:v>45930</c:v>
                </c:pt>
                <c:pt idx="7">
                  <c:v>45961</c:v>
                </c:pt>
                <c:pt idx="8">
                  <c:v>45991</c:v>
                </c:pt>
                <c:pt idx="9">
                  <c:v>46022</c:v>
                </c:pt>
                <c:pt idx="10">
                  <c:v>46053</c:v>
                </c:pt>
                <c:pt idx="11">
                  <c:v>46081</c:v>
                </c:pt>
                <c:pt idx="12">
                  <c:v>46112</c:v>
                </c:pt>
              </c:numCache>
            </c:numRef>
          </c:cat>
          <c:val>
            <c:numRef>
              <c:f>Charts!$C$68:$O$68</c:f>
              <c:numCache>
                <c:formatCode>_([$$-409]* #,##0_);_([$$-409]* \(#,##0\);_([$$-409]* "-"??_);_(@_)</c:formatCode>
                <c:ptCount val="13"/>
                <c:pt idx="0">
                  <c:v>1431.6958887545345</c:v>
                </c:pt>
                <c:pt idx="1">
                  <c:v>1474.3965517241379</c:v>
                </c:pt>
                <c:pt idx="2">
                  <c:v>1454.7850678733032</c:v>
                </c:pt>
                <c:pt idx="3">
                  <c:v>1491.6257647565703</c:v>
                </c:pt>
                <c:pt idx="4">
                  <c:v>1518.9919617640671</c:v>
                </c:pt>
                <c:pt idx="5">
                  <c:v>1541.5762834417931</c:v>
                </c:pt>
                <c:pt idx="6">
                  <c:v>1514.5098458904113</c:v>
                </c:pt>
                <c:pt idx="7">
                  <c:v>1510.8588901879664</c:v>
                </c:pt>
                <c:pt idx="8">
                  <c:v>1473.8508170795994</c:v>
                </c:pt>
                <c:pt idx="9">
                  <c:v>1514.3363239015412</c:v>
                </c:pt>
                <c:pt idx="10">
                  <c:v>1598.7571626160836</c:v>
                </c:pt>
                <c:pt idx="11">
                  <c:v>1624.1597426963281</c:v>
                </c:pt>
                <c:pt idx="12">
                  <c:v>1609.2248062015503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D-804B-4C09-B31D-4BEEF8B23EBB}"/>
            </c:ext>
          </c:extLst>
        </c:ser>
        <c:ser>
          <c:idx val="2"/>
          <c:order val="2"/>
          <c:tx>
            <c:strRef>
              <c:f>Charts!$B$69</c:f>
              <c:strCache>
                <c:ptCount val="1"/>
                <c:pt idx="0">
                  <c:v>სამგორი</c:v>
                </c:pt>
              </c:strCache>
            </c:strRef>
          </c:tx>
          <c:spPr>
            <a:ln w="25400">
              <a:noFill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3.8144630338538925E-2"/>
                  <c:y val="-7.5414781297132851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/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804B-4C09-B31D-4BEEF8B23EB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804B-4C09-B31D-4BEEF8B23EB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804B-4C09-B31D-4BEEF8B23EB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804B-4C09-B31D-4BEEF8B23EB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804B-4C09-B31D-4BEEF8B23EB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804B-4C09-B31D-4BEEF8B23EBB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804B-4C09-B31D-4BEEF8B23EBB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804B-4C09-B31D-4BEEF8B23EBB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804B-4C09-B31D-4BEEF8B23EBB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804B-4C09-B31D-4BEEF8B23EBB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804B-4C09-B31D-4BEEF8B23EBB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804B-4C09-B31D-4BEEF8B23EBB}"/>
                </c:ext>
              </c:extLst>
            </c:dLbl>
            <c:dLbl>
              <c:idx val="12"/>
              <c:layout>
                <c:manualLayout>
                  <c:x val="-5.4207602807587255E-2"/>
                  <c:y val="-1.131221719457027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b="1"/>
                  </a:pPr>
                  <a:endParaRPr lang="en-US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804B-4C09-B31D-4BEEF8B23EBB}"/>
                </c:ext>
              </c:extLst>
            </c:dLbl>
            <c:spPr>
              <a:noFill/>
              <a:ln>
                <a:noFill/>
              </a:ln>
              <a:effectLst/>
            </c:spPr>
            <c:dLblPos val="l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28575"/>
            </c:spPr>
            <c:trendlineType val="linear"/>
            <c:dispRSqr val="0"/>
            <c:dispEq val="0"/>
          </c:trendline>
          <c:cat>
            <c:numRef>
              <c:f>Charts!$C$66:$O$66</c:f>
              <c:numCache>
                <c:formatCode>[$-409]mmm\-yy;@</c:formatCode>
                <c:ptCount val="13"/>
                <c:pt idx="0">
                  <c:v>45747</c:v>
                </c:pt>
                <c:pt idx="1">
                  <c:v>45777</c:v>
                </c:pt>
                <c:pt idx="2">
                  <c:v>45808</c:v>
                </c:pt>
                <c:pt idx="3">
                  <c:v>45838</c:v>
                </c:pt>
                <c:pt idx="4">
                  <c:v>45869</c:v>
                </c:pt>
                <c:pt idx="5">
                  <c:v>45900</c:v>
                </c:pt>
                <c:pt idx="6">
                  <c:v>45930</c:v>
                </c:pt>
                <c:pt idx="7">
                  <c:v>45961</c:v>
                </c:pt>
                <c:pt idx="8">
                  <c:v>45991</c:v>
                </c:pt>
                <c:pt idx="9">
                  <c:v>46022</c:v>
                </c:pt>
                <c:pt idx="10">
                  <c:v>46053</c:v>
                </c:pt>
                <c:pt idx="11">
                  <c:v>46081</c:v>
                </c:pt>
                <c:pt idx="12">
                  <c:v>46112</c:v>
                </c:pt>
              </c:numCache>
            </c:numRef>
          </c:cat>
          <c:val>
            <c:numRef>
              <c:f>Charts!$C$69:$O$69</c:f>
              <c:numCache>
                <c:formatCode>_([$$-409]* #,##0_);_([$$-409]* \(#,##0\);_([$$-409]* "-"??_);_(@_)</c:formatCode>
                <c:ptCount val="13"/>
                <c:pt idx="0">
                  <c:v>1089.7818946261989</c:v>
                </c:pt>
                <c:pt idx="1">
                  <c:v>1242.3398542385885</c:v>
                </c:pt>
                <c:pt idx="2">
                  <c:v>1183.6239889524561</c:v>
                </c:pt>
                <c:pt idx="3">
                  <c:v>1161.4155906264943</c:v>
                </c:pt>
                <c:pt idx="4">
                  <c:v>1441.7460857726346</c:v>
                </c:pt>
                <c:pt idx="5">
                  <c:v>1295.2388059701493</c:v>
                </c:pt>
                <c:pt idx="6">
                  <c:v>1215.5237280889269</c:v>
                </c:pt>
                <c:pt idx="7">
                  <c:v>1203.3055770720373</c:v>
                </c:pt>
                <c:pt idx="8">
                  <c:v>1489.6006655574045</c:v>
                </c:pt>
                <c:pt idx="9">
                  <c:v>1230.4493351673545</c:v>
                </c:pt>
                <c:pt idx="10">
                  <c:v>1199.9557522123894</c:v>
                </c:pt>
                <c:pt idx="11">
                  <c:v>1387.6946107784431</c:v>
                </c:pt>
                <c:pt idx="12">
                  <c:v>1209.5942720763724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2C-804B-4C09-B31D-4BEEF8B23EBB}"/>
            </c:ext>
          </c:extLst>
        </c:ser>
        <c:dLbls>
          <c:dLblPos val="l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00927896"/>
        <c:axId val="1"/>
      </c:lineChart>
      <c:dateAx>
        <c:axId val="400927896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/>
          <a:lstStyle/>
          <a:p>
            <a:pPr>
              <a:defRPr sz="1000" b="0" i="0" u="none" strike="noStrike" baseline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en-US"/>
          </a:p>
        </c:txPr>
        <c:crossAx val="1"/>
        <c:crosses val="autoZero"/>
        <c:auto val="1"/>
        <c:lblOffset val="100"/>
        <c:baseTimeUnit val="months"/>
      </c:dateAx>
      <c:valAx>
        <c:axId val="1"/>
        <c:scaling>
          <c:orientation val="minMax"/>
          <c:min val="1000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_);_([$$-409]* \(#,##0\);_([$$-409]* &quot;-&quot;??_);_(@_)" sourceLinked="1"/>
        <c:majorTickMark val="out"/>
        <c:minorTickMark val="none"/>
        <c:tickLblPos val="nextTo"/>
        <c:crossAx val="400927896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spPr>
    <a:pattFill prst="ltHorz">
      <a:fgClr>
        <a:schemeClr val="bg1">
          <a:lumMod val="95000"/>
        </a:schemeClr>
      </a:fgClr>
      <a:bgClr>
        <a:schemeClr val="accent3">
          <a:lumMod val="20000"/>
          <a:lumOff val="80000"/>
        </a:schemeClr>
      </a:bgClr>
    </a:patt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00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en-US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0.00652</cdr:x>
      <cdr:y>0.45022</cdr:y>
    </cdr:from>
    <cdr:to>
      <cdr:x>0.16068</cdr:x>
      <cdr:y>0.88763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C5099287-5BBE-7172-F4C2-A0226D2C6D78}"/>
            </a:ext>
          </a:extLst>
        </cdr:cNvPr>
        <cdr:cNvSpPr txBox="1"/>
      </cdr:nvSpPr>
      <cdr:spPr>
        <a:xfrm xmlns:a="http://schemas.openxmlformats.org/drawingml/2006/main">
          <a:off x="56824" y="1447937"/>
          <a:ext cx="1343548" cy="140675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ka-GE" sz="1100" b="1" kern="1200" dirty="0">
              <a:solidFill>
                <a:schemeClr val="accent5"/>
              </a:solidFill>
            </a:rPr>
            <a:t>უნივერსიტეტი</a:t>
          </a:r>
        </a:p>
        <a:p xmlns:a="http://schemas.openxmlformats.org/drawingml/2006/main">
          <a:endParaRPr lang="ka-GE" sz="1100" kern="1200" dirty="0"/>
        </a:p>
        <a:p xmlns:a="http://schemas.openxmlformats.org/drawingml/2006/main">
          <a:r>
            <a:rPr lang="ka-GE" sz="1100" b="1" kern="1200" dirty="0">
              <a:solidFill>
                <a:schemeClr val="accent2"/>
              </a:solidFill>
            </a:rPr>
            <a:t>ლისი</a:t>
          </a:r>
        </a:p>
        <a:p xmlns:a="http://schemas.openxmlformats.org/drawingml/2006/main">
          <a:endParaRPr lang="ka-GE" sz="1100" kern="1200" dirty="0"/>
        </a:p>
        <a:p xmlns:a="http://schemas.openxmlformats.org/drawingml/2006/main">
          <a:r>
            <a:rPr lang="ka-GE" sz="1100" b="1" kern="1200" dirty="0"/>
            <a:t>სამგორი</a:t>
          </a:r>
          <a:endParaRPr lang="en-US" sz="1100" b="1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17963" y="1"/>
            <a:ext cx="4068339" cy="356357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7474664F-DF9C-48AA-9DA3-B342B4330C19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63813" y="887413"/>
            <a:ext cx="4260850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8848" y="3418066"/>
            <a:ext cx="7510780" cy="2796600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17963" y="6746119"/>
            <a:ext cx="4068339" cy="356356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7FBDB7DB-900E-4B52-9FB8-B2AFF4AFA8F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802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7184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563813" y="887413"/>
            <a:ext cx="4260850" cy="23971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BDB7DB-900E-4B52-9FB8-B2AFF4AFA8F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917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E7822-CBA1-46F9-A374-A93D96027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F11B24-2CA9-4F56-89B9-DC5BEEA90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2" indent="0" algn="ctr">
              <a:buNone/>
              <a:defRPr sz="2000"/>
            </a:lvl2pPr>
            <a:lvl3pPr marL="914423" indent="0" algn="ctr">
              <a:buNone/>
              <a:defRPr sz="1800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8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2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BB830-3A7C-4329-BE3A-AB992032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15B83-C84A-49FF-B14B-ADFAD7F93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11749-A2F2-4BF6-917E-129A3DCA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073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F580-D603-48DE-BC9E-0ECBB8D66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0DFF6-58D5-4F6A-BB3C-00FE0B107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961E7-AA43-4B18-B413-49663B59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72D45-D6F8-4FF8-9C81-543C7C87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33D74-A20C-43F1-8489-EB791A2F3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60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194F1-98A6-424F-ACBF-69B3B425E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4E914-4E1D-482B-8955-59EAE08EB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3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5D416-9079-4E8F-B903-0475623D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4B428-BC16-4F12-BF84-A87E4EEE7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508D6-80E8-43E2-86CA-17CC12B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418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59BFD-8491-4337-895F-055D8B8CF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14D6D-86D6-4256-B1ED-5C4046DDA6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2283F-D1C9-488F-98C7-9482C36A2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D7CB-52C8-4CFD-91D9-387031142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11CAB-2F7D-4195-85D1-CF032B1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F56BAC-8BC5-49DC-BB3D-CC375E35E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E728D-227A-497C-8586-43FB7C559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12795-4BBD-46F0-8657-F9E4917EF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1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26AE11-9FAC-4E40-A8F3-2E314270E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1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1596B4-DC18-445A-AB26-E06BB23DE4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2" indent="0">
              <a:buNone/>
              <a:defRPr sz="2000" b="1"/>
            </a:lvl2pPr>
            <a:lvl3pPr marL="914423" indent="0">
              <a:buNone/>
              <a:defRPr sz="1800" b="1"/>
            </a:lvl3pPr>
            <a:lvl4pPr marL="1371634" indent="0">
              <a:buNone/>
              <a:defRPr sz="1600" b="1"/>
            </a:lvl4pPr>
            <a:lvl5pPr marL="1828846" indent="0">
              <a:buNone/>
              <a:defRPr sz="1600" b="1"/>
            </a:lvl5pPr>
            <a:lvl6pPr marL="2286057" indent="0">
              <a:buNone/>
              <a:defRPr sz="1600" b="1"/>
            </a:lvl6pPr>
            <a:lvl7pPr marL="2743268" indent="0">
              <a:buNone/>
              <a:defRPr sz="1600" b="1"/>
            </a:lvl7pPr>
            <a:lvl8pPr marL="3200480" indent="0">
              <a:buNone/>
              <a:defRPr sz="1600" b="1"/>
            </a:lvl8pPr>
            <a:lvl9pPr marL="3657692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501855-F87D-45FB-A775-854192D86A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3ED49-4C7E-4FEC-9146-96211E699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A0CBF1-3B8A-47D0-8ECA-D5BEF2E4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09073-3A48-4B72-98C3-AC319136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65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34B9-4EED-4C62-A766-01A8BD70A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B7CA7-EFA3-449E-AFA2-5E9D55E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896EE-F538-4B94-9645-D1D27E2C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34DC00-AC5A-4775-8C8E-D1116BFF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786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C8C364-C428-4CF5-8B22-EC3FC101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77E623-597F-4FB9-BB9F-FB217AA8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BCA8D-F31A-4963-B60C-AE46B9FD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9102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BBBA7-2C35-4FD8-95D4-3FD1CC08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CDFE6-6A96-471A-A950-376BE64A7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C8CFC5-2B36-404D-9995-E40FA9E6B6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68A62-07FF-47C5-BA10-112F99686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2002-DB49-4807-835B-BE934E62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A4DAD2-E391-4049-8A0E-2DDE88019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274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72844-AE3A-490C-B942-4FE39D1E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1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1DE005-4F56-477D-9291-36FEF178A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90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2" indent="0">
              <a:buNone/>
              <a:defRPr sz="2800"/>
            </a:lvl2pPr>
            <a:lvl3pPr marL="914423" indent="0">
              <a:buNone/>
              <a:defRPr sz="2400"/>
            </a:lvl3pPr>
            <a:lvl4pPr marL="1371634" indent="0">
              <a:buNone/>
              <a:defRPr sz="2000"/>
            </a:lvl4pPr>
            <a:lvl5pPr marL="1828846" indent="0">
              <a:buNone/>
              <a:defRPr sz="2000"/>
            </a:lvl5pPr>
            <a:lvl6pPr marL="2286057" indent="0">
              <a:buNone/>
              <a:defRPr sz="2000"/>
            </a:lvl6pPr>
            <a:lvl7pPr marL="2743268" indent="0">
              <a:buNone/>
              <a:defRPr sz="2000"/>
            </a:lvl7pPr>
            <a:lvl8pPr marL="3200480" indent="0">
              <a:buNone/>
              <a:defRPr sz="2000"/>
            </a:lvl8pPr>
            <a:lvl9pPr marL="3657692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A7C96-4636-4DE2-910D-2CC24A61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1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2" indent="0">
              <a:buNone/>
              <a:defRPr sz="1400"/>
            </a:lvl2pPr>
            <a:lvl3pPr marL="914423" indent="0">
              <a:buNone/>
              <a:defRPr sz="1200"/>
            </a:lvl3pPr>
            <a:lvl4pPr marL="1371634" indent="0">
              <a:buNone/>
              <a:defRPr sz="1000"/>
            </a:lvl4pPr>
            <a:lvl5pPr marL="1828846" indent="0">
              <a:buNone/>
              <a:defRPr sz="1000"/>
            </a:lvl5pPr>
            <a:lvl6pPr marL="2286057" indent="0">
              <a:buNone/>
              <a:defRPr sz="1000"/>
            </a:lvl6pPr>
            <a:lvl7pPr marL="2743268" indent="0">
              <a:buNone/>
              <a:defRPr sz="1000"/>
            </a:lvl7pPr>
            <a:lvl8pPr marL="3200480" indent="0">
              <a:buNone/>
              <a:defRPr sz="1000"/>
            </a:lvl8pPr>
            <a:lvl9pPr marL="3657692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07CDC-E1B8-4E87-875A-1597E2CA0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007909-CF08-4C5E-9635-90521C81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579A-B455-4190-BFCC-8A68113A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015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2B54C-9DC1-4DBA-9DD8-F1FF174A4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54357-6E72-473A-9633-CA05F9F31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D0D7-D771-41D9-8E95-27B2A526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3D86-2604-4B57-B4F2-8F3487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1D0EA-36FD-496A-A565-373939FE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726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88324-B16F-4B82-8CF2-7F00BC7BF1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E84B0-8CC5-41E6-8063-6FF872AB20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07E46-444D-48D5-8471-7A85A3882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A9726-6875-4B72-AA1A-9F4633F8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4777C-5357-49B9-9D7C-A5D85D56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228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0123-14DA-456B-8FAC-F479E6CC2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6AF2-A9E2-460D-9392-1BACE42F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A990A-F095-4A64-9063-223909F99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EB9D1-1B18-4065-9C7D-DADCFC0748DE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4BF7-F44F-49E3-B61E-F00BAF6E1C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4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C7962-996F-4425-AA85-177F32829F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98E2F8-4240-4A9A-AE5C-CC33CCC593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23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6" indent="-228606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4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6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7" indent="-228606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4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6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7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32;&#4314;&#4312;&#4321;%20&#4306;&#4308;&#4306;&#4315;&#4304;!R1C1:R35C1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06;&#4304;&#4327;&#4312;&#4307;&#4309;&#4308;&#4305;&#4312;&#4321;%20&#4321;&#4322;&#4304;&#4322;&#4312;&#4321;&#4322;&#4312;&#4313;&#4304;!R1C2:R9C7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hart" Target="../charts/chart3.xml"/><Relationship Id="rId4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18;&#4320;&#4317;&#4308;&#4325;&#4322;&#4308;&#4305;&#4312;!R1C1:R28C1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18;&#4320;&#4317;&#4308;&#4325;&#4322;&#4308;&#4305;&#4312;!R29C1:R54C17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18;&#4320;&#4317;&#4308;&#4325;&#4322;&#4308;&#4305;&#4312;!R56C1:R81C17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35;&#4312;&#4325;&#4312;&#4304;%20&#4313;&#4317;&#4315;.&#4306;&#4304;&#4327;&#4312;&#4307;&#4309;&#4304;!R3C2:R18C8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file:///G:\My%20Drive\WORK\Finance\2026\Partner%20meetings\4.14.2026%20-%20&#4318;&#4304;&#4320;&#4322;&#4316;&#4312;&#4317;&#4320;&#4311;&#4304;%20&#4328;&#4308;&#4334;&#4309;&#4308;&#4307;&#4320;&#4304;.xlsx!&#4315;&#4312;&#4310;&#4316;&#4308;&#4305;&#4312;!R1C1:R24C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E16FE8B-92A4-4329-AEB3-A3165F4C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0231" y="2798875"/>
            <a:ext cx="5531537" cy="1260249"/>
          </a:xfrm>
        </p:spPr>
        <p:txBody>
          <a:bodyPr>
            <a:normAutofit fontScale="90000"/>
          </a:bodyPr>
          <a:lstStyle/>
          <a:p>
            <a:r>
              <a:rPr lang="ka-GE" dirty="0"/>
              <a:t>2026 წლის </a:t>
            </a:r>
            <a:r>
              <a:rPr lang="en-US" dirty="0"/>
              <a:t>I </a:t>
            </a:r>
            <a:r>
              <a:rPr lang="ka-GE" dirty="0"/>
              <a:t>კვარტალი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3007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287B176-701A-4128-9A31-3358B96D446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E7DAA168-7206-B8CA-3275-03F125A69FEA}"/>
              </a:ext>
            </a:extLst>
          </p:cNvPr>
          <p:cNvSpPr txBox="1">
            <a:spLocks/>
          </p:cNvSpPr>
          <p:nvPr/>
        </p:nvSpPr>
        <p:spPr>
          <a:xfrm>
            <a:off x="3421523" y="123390"/>
            <a:ext cx="5912498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600" b="1" dirty="0"/>
              <a:t>დაგეგმილი და რეალური ბიუჯეტი</a:t>
            </a:r>
            <a:endParaRPr lang="en-US" sz="2600" b="1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1521D00-9D34-ED5D-3235-4E87CA0D0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9712798"/>
              </p:ext>
            </p:extLst>
          </p:nvPr>
        </p:nvGraphicFramePr>
        <p:xfrm>
          <a:off x="4596" y="830424"/>
          <a:ext cx="12187404" cy="5197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7091777" imgH="6873474" progId="Excel.Sheet.12">
                  <p:link updateAutomatic="1"/>
                </p:oleObj>
              </mc:Choice>
              <mc:Fallback>
                <p:oleObj name="Worksheet" r:id="rId3" imgW="17091777" imgH="6873474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96" y="830424"/>
                        <a:ext cx="12187404" cy="5197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0924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366991F-B106-446E-A3F5-FAC880A863DC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16BACBB6-B27C-4CCC-9815-1D0D5DC5E9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647161"/>
              </p:ext>
            </p:extLst>
          </p:nvPr>
        </p:nvGraphicFramePr>
        <p:xfrm>
          <a:off x="1496932" y="217520"/>
          <a:ext cx="9150509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8BF0A7BC-73BB-4C1C-9FC8-9A4F2F619B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8090523"/>
              </p:ext>
            </p:extLst>
          </p:nvPr>
        </p:nvGraphicFramePr>
        <p:xfrm>
          <a:off x="1496933" y="3349305"/>
          <a:ext cx="9150508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50654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A2437A65-D3D5-4710-8C13-25221221553D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961E072-FF1F-B77D-B2CD-7064D412E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950841"/>
              </p:ext>
            </p:extLst>
          </p:nvPr>
        </p:nvGraphicFramePr>
        <p:xfrm>
          <a:off x="551510" y="3636023"/>
          <a:ext cx="6439560" cy="1822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5844657" imgH="1653423" progId="Excel.Sheet.12">
                  <p:link updateAutomatic="1"/>
                </p:oleObj>
              </mc:Choice>
              <mc:Fallback>
                <p:oleObj name="Worksheet" r:id="rId3" imgW="5844657" imgH="165342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1510" y="3636023"/>
                        <a:ext cx="6439560" cy="1822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50BDF56-9600-42D6-9F0A-C173FE8CE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336913"/>
              </p:ext>
            </p:extLst>
          </p:nvPr>
        </p:nvGraphicFramePr>
        <p:xfrm>
          <a:off x="839212" y="212911"/>
          <a:ext cx="8715335" cy="32160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EC87591-E631-7D1C-8B5C-9ABE49A9B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1574" y="741219"/>
            <a:ext cx="1794368" cy="1613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BE4B75-8C9F-9EBF-B3F8-8141DC7ECD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5069" y="3595676"/>
            <a:ext cx="4498155" cy="186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185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1B325A6-3F45-C7A9-2812-A2812604E51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627A5F8-875F-29A3-2D54-26CB005A6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473231"/>
              </p:ext>
            </p:extLst>
          </p:nvPr>
        </p:nvGraphicFramePr>
        <p:xfrm>
          <a:off x="0" y="0"/>
          <a:ext cx="11625941" cy="6261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14577" imgH="4853823" progId="Excel.Sheet.12">
                  <p:link updateAutomatic="1"/>
                </p:oleObj>
              </mc:Choice>
              <mc:Fallback>
                <p:oleObj name="Worksheet" r:id="rId2" imgW="9014577" imgH="485382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1625941" cy="6261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1657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8A72C-9F80-0AFF-DD1A-7F7FBB41E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5BF0459-C5E5-0CBC-100F-2A37408088CE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EA491A8-487F-1DD1-A967-52A9F101B5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126456"/>
              </p:ext>
            </p:extLst>
          </p:nvPr>
        </p:nvGraphicFramePr>
        <p:xfrm>
          <a:off x="38764" y="0"/>
          <a:ext cx="12125062" cy="6036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14577" imgH="4488063" progId="Excel.Sheet.12">
                  <p:link updateAutomatic="1"/>
                </p:oleObj>
              </mc:Choice>
              <mc:Fallback>
                <p:oleObj name="Worksheet" r:id="rId2" imgW="9014577" imgH="448806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764" y="0"/>
                        <a:ext cx="12125062" cy="6036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11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E144D-3D2E-159E-FC54-EF2231E63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B1CD8AE-B54C-6463-C0E0-0E247419CF0B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183F3DE-D816-98D7-6355-AABBAD2C6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909606"/>
              </p:ext>
            </p:extLst>
          </p:nvPr>
        </p:nvGraphicFramePr>
        <p:xfrm>
          <a:off x="0" y="-1"/>
          <a:ext cx="12162541" cy="6055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14577" imgH="4488063" progId="Excel.Sheet.12">
                  <p:link updateAutomatic="1"/>
                </p:oleObj>
              </mc:Choice>
              <mc:Fallback>
                <p:oleObj name="Worksheet" r:id="rId2" imgW="9014577" imgH="448806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-1"/>
                        <a:ext cx="12162541" cy="60555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823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5">
            <a:extLst>
              <a:ext uri="{FF2B5EF4-FFF2-40B4-BE49-F238E27FC236}">
                <a16:creationId xmlns:a16="http://schemas.microsoft.com/office/drawing/2014/main" id="{D5F5962F-EEDA-B4DB-E169-BAA9F65B5281}"/>
              </a:ext>
            </a:extLst>
          </p:cNvPr>
          <p:cNvSpPr txBox="1">
            <a:spLocks/>
          </p:cNvSpPr>
          <p:nvPr/>
        </p:nvSpPr>
        <p:spPr>
          <a:xfrm>
            <a:off x="4202082" y="143338"/>
            <a:ext cx="3787836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ჯიქიას კომერციული ფართები</a:t>
            </a:r>
            <a:endParaRPr lang="en-US" sz="2000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D7C3E34-7514-31CC-1C4A-B4FF8EFD37B7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766E6D4-FAC2-0D88-CE19-152BD3C636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002457"/>
              </p:ext>
            </p:extLst>
          </p:nvPr>
        </p:nvGraphicFramePr>
        <p:xfrm>
          <a:off x="1996751" y="1197413"/>
          <a:ext cx="8198497" cy="4463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417937" imgH="2949057" progId="Excel.Sheet.12">
                  <p:link updateAutomatic="1"/>
                </p:oleObj>
              </mc:Choice>
              <mc:Fallback>
                <p:oleObj name="Worksheet" r:id="rId2" imgW="5417937" imgH="294905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96751" y="1197413"/>
                        <a:ext cx="8198497" cy="44631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410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A70A-C885-3FA8-B4C6-3D612B34EA36}"/>
              </a:ext>
            </a:extLst>
          </p:cNvPr>
          <p:cNvSpPr txBox="1">
            <a:spLocks/>
          </p:cNvSpPr>
          <p:nvPr/>
        </p:nvSpPr>
        <p:spPr>
          <a:xfrm>
            <a:off x="7856375" y="6481090"/>
            <a:ext cx="3769566" cy="23357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2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a-GE" sz="1200" dirty="0"/>
              <a:t>შედგენის თარიღი - 31</a:t>
            </a:r>
            <a:r>
              <a:rPr lang="en-US" sz="1200" dirty="0"/>
              <a:t>.</a:t>
            </a:r>
            <a:r>
              <a:rPr lang="ka-GE" sz="1200" dirty="0"/>
              <a:t>03.2026</a:t>
            </a:r>
            <a:endParaRPr lang="ru-RU" sz="1200" dirty="0"/>
          </a:p>
        </p:txBody>
      </p:sp>
      <p:sp>
        <p:nvSpPr>
          <p:cNvPr id="3" name="Subtitle 5">
            <a:extLst>
              <a:ext uri="{FF2B5EF4-FFF2-40B4-BE49-F238E27FC236}">
                <a16:creationId xmlns:a16="http://schemas.microsoft.com/office/drawing/2014/main" id="{4E07CEDD-C1A5-52AD-B56B-5FEB60D65823}"/>
              </a:ext>
            </a:extLst>
          </p:cNvPr>
          <p:cNvSpPr txBox="1">
            <a:spLocks/>
          </p:cNvSpPr>
          <p:nvPr/>
        </p:nvSpPr>
        <p:spPr>
          <a:xfrm>
            <a:off x="5501346" y="98135"/>
            <a:ext cx="1189307" cy="5388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a-GE" sz="2000" b="1" dirty="0"/>
              <a:t>მიზნები</a:t>
            </a:r>
            <a:endParaRPr lang="en-US" sz="2000" b="1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718CCF1-FFC9-5A2D-771F-E0B1A59CAC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496111"/>
              </p:ext>
            </p:extLst>
          </p:nvPr>
        </p:nvGraphicFramePr>
        <p:xfrm>
          <a:off x="566059" y="543717"/>
          <a:ext cx="6417572" cy="603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678914" imgH="4396623" progId="Excel.Sheet.12">
                  <p:link updateAutomatic="1"/>
                </p:oleObj>
              </mc:Choice>
              <mc:Fallback>
                <p:oleObj name="Worksheet" r:id="rId2" imgW="4678914" imgH="439662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6059" y="543717"/>
                        <a:ext cx="6417572" cy="6032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5911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20155</TotalTime>
  <Words>92</Words>
  <Application>Microsoft Office PowerPoint</Application>
  <PresentationFormat>Widescreen</PresentationFormat>
  <Paragraphs>38</Paragraphs>
  <Slides>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Links</vt:lpstr>
      </vt:variant>
      <vt:variant>
        <vt:i4>7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Arial</vt:lpstr>
      <vt:lpstr>Calibri</vt:lpstr>
      <vt:lpstr>Calibri Light</vt:lpstr>
      <vt:lpstr>Sylfaen</vt:lpstr>
      <vt:lpstr>Office Theme</vt:lpstr>
      <vt:lpstr>file:///G:\My%20Drive\WORK\Finance\2026\Partner%20meetings\4.14.2026%20-%20პარტნიორთა%20შეხვედრა.xlsx!წლის%20გეგმა!R1C1:R35C17</vt:lpstr>
      <vt:lpstr>file:///G:\My%20Drive\WORK\Finance\2026\Partner%20meetings\4.14.2026%20-%20პარტნიორთა%20შეხვედრა.xlsx!გაყიდვების%20სტატისტიკა!R1C2:R9C7</vt:lpstr>
      <vt:lpstr>file:///G:\My%20Drive\WORK\Finance\2026\Partner%20meetings\4.14.2026%20-%20პარტნიორთა%20შეხვედრა.xlsx!პროექტები!R1C1:R28C17</vt:lpstr>
      <vt:lpstr>file:///G:\My%20Drive\WORK\Finance\2026\Partner%20meetings\4.14.2026%20-%20პარტნიორთა%20შეხვედრა.xlsx!პროექტები!R29C1:R54C17</vt:lpstr>
      <vt:lpstr>file:///G:\My%20Drive\WORK\Finance\2026\Partner%20meetings\4.14.2026%20-%20პარტნიორთა%20შეხვედრა.xlsx!პროექტები!R56C1:R81C17</vt:lpstr>
      <vt:lpstr>file:///G:\My%20Drive\WORK\Finance\2026\Partner%20meetings\4.14.2026%20-%20პარტნიორთა%20შეხვედრა.xlsx!ჯიქია%20კომ.გაყიდვა!R3C2:R18C8</vt:lpstr>
      <vt:lpstr>file:///G:\My%20Drive\WORK\Finance\2026\Partner%20meetings\4.14.2026%20-%20პარტნიორთა%20შეხვედრა.xlsx!მიზნები!R1C1:R24C4</vt:lpstr>
      <vt:lpstr>2026 წლის I კვარტალი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Beso</dc:creator>
  <cp:lastModifiedBy>beso Ortoidze</cp:lastModifiedBy>
  <cp:revision>188</cp:revision>
  <dcterms:created xsi:type="dcterms:W3CDTF">2020-10-15T19:38:02Z</dcterms:created>
  <dcterms:modified xsi:type="dcterms:W3CDTF">2026-04-17T18:49:26Z</dcterms:modified>
</cp:coreProperties>
</file>