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304" r:id="rId3"/>
    <p:sldId id="295" r:id="rId4"/>
    <p:sldId id="297" r:id="rId5"/>
    <p:sldId id="307" r:id="rId6"/>
    <p:sldId id="310" r:id="rId7"/>
    <p:sldId id="309" r:id="rId8"/>
    <p:sldId id="302" r:id="rId9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9A338-AACD-6A96-D3F9-881CA4058909}" name="beso Ortoidze" initials="bO" userId="9441844aa767b20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so" initials="B" lastIdx="7" clrIdx="0">
    <p:extLst>
      <p:ext uri="{19B8F6BF-5375-455C-9EA6-DF929625EA0E}">
        <p15:presenceInfo xmlns:p15="http://schemas.microsoft.com/office/powerpoint/2012/main" userId="Beso" providerId="None"/>
      </p:ext>
    </p:extLst>
  </p:cmAuthor>
  <p:cmAuthor id="2" name="Beso Ortoidze" initials="B" lastIdx="2" clrIdx="1">
    <p:extLst>
      <p:ext uri="{19B8F6BF-5375-455C-9EA6-DF929625EA0E}">
        <p15:presenceInfo xmlns:p15="http://schemas.microsoft.com/office/powerpoint/2012/main" userId="Beso Ortoidze" providerId="None"/>
      </p:ext>
    </p:extLst>
  </p:cmAuthor>
  <p:cmAuthor id="3" name="beso Ortoidze" initials="bO" lastIdx="2" clrIdx="2">
    <p:extLst>
      <p:ext uri="{19B8F6BF-5375-455C-9EA6-DF929625EA0E}">
        <p15:presenceInfo xmlns:p15="http://schemas.microsoft.com/office/powerpoint/2012/main" userId="9441844aa767b2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6.30.2025%20-%20Statistic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6.30.2025%20-%20Statistic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6.30.2025%20-%20Statistic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გაყიდვები (საცხოვრებელი) რ-ბა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Charts!$B$5</c:f>
              <c:strCache>
                <c:ptCount val="1"/>
                <c:pt idx="0">
                  <c:v>გაყიდვები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45473</c:v>
                </c:pt>
                <c:pt idx="1">
                  <c:v>45504</c:v>
                </c:pt>
                <c:pt idx="2">
                  <c:v>45535</c:v>
                </c:pt>
                <c:pt idx="3">
                  <c:v>45565</c:v>
                </c:pt>
                <c:pt idx="4">
                  <c:v>45596</c:v>
                </c:pt>
                <c:pt idx="5">
                  <c:v>45626</c:v>
                </c:pt>
                <c:pt idx="6">
                  <c:v>45657</c:v>
                </c:pt>
                <c:pt idx="7">
                  <c:v>45688</c:v>
                </c:pt>
                <c:pt idx="8">
                  <c:v>45716</c:v>
                </c:pt>
                <c:pt idx="9">
                  <c:v>45747</c:v>
                </c:pt>
                <c:pt idx="10">
                  <c:v>45777</c:v>
                </c:pt>
                <c:pt idx="11">
                  <c:v>45808</c:v>
                </c:pt>
                <c:pt idx="12">
                  <c:v>45838</c:v>
                </c:pt>
              </c:numCache>
            </c:numRef>
          </c:cat>
          <c:val>
            <c:numRef>
              <c:f>Charts!$C$5:$O$5</c:f>
              <c:numCache>
                <c:formatCode>General</c:formatCode>
                <c:ptCount val="13"/>
                <c:pt idx="0">
                  <c:v>20</c:v>
                </c:pt>
                <c:pt idx="1">
                  <c:v>39</c:v>
                </c:pt>
                <c:pt idx="2">
                  <c:v>37</c:v>
                </c:pt>
                <c:pt idx="3">
                  <c:v>39</c:v>
                </c:pt>
                <c:pt idx="4">
                  <c:v>42</c:v>
                </c:pt>
                <c:pt idx="5">
                  <c:v>39</c:v>
                </c:pt>
                <c:pt idx="6">
                  <c:v>21</c:v>
                </c:pt>
                <c:pt idx="7">
                  <c:v>18</c:v>
                </c:pt>
                <c:pt idx="8">
                  <c:v>35</c:v>
                </c:pt>
                <c:pt idx="9">
                  <c:v>26</c:v>
                </c:pt>
                <c:pt idx="10">
                  <c:v>25</c:v>
                </c:pt>
                <c:pt idx="11">
                  <c:v>39</c:v>
                </c:pt>
                <c:pt idx="1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56-466C-BEA8-E7CB7856B8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00926256"/>
        <c:axId val="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Charts!$B$6</c15:sqref>
                        </c15:formulaRef>
                      </c:ext>
                    </c:extLst>
                    <c:strCache>
                      <c:ptCount val="1"/>
                      <c:pt idx="0">
                        <c:v>სტოკი</c:v>
                      </c:pt>
                    </c:strCache>
                  </c:strRef>
                </c:tx>
                <c:spPr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</c:spPr>
                <c:invertIfNegative val="0"/>
                <c:dLbls>
                  <c:dLbl>
                    <c:idx val="1"/>
                    <c:layout>
                      <c:manualLayout>
                        <c:x val="-2.0871434868797559E-2"/>
                        <c:y val="1.5900723395272702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0D56-466C-BEA8-E7CB7856B815}"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6.3602893581089642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C-0D56-466C-BEA8-E7CB7856B815}"/>
                      </c:ext>
                    </c:extLst>
                  </c:dLbl>
                  <c:dLbl>
                    <c:idx val="3"/>
                    <c:layout>
                      <c:manualLayout>
                        <c:x val="6.4219799596300182E-3"/>
                        <c:y val="3.1801446790545407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D-0D56-466C-BEA8-E7CB7856B815}"/>
                      </c:ext>
                    </c:extLst>
                  </c:dLbl>
                  <c:dLbl>
                    <c:idx val="6"/>
                    <c:layout>
                      <c:manualLayout>
                        <c:x val="-1.444945490916754E-2"/>
                        <c:y val="1.2720578716218104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E-0D56-466C-BEA8-E7CB7856B815}"/>
                      </c:ext>
                    </c:extLst>
                  </c:dLbl>
                  <c:spPr>
                    <a:noFill/>
                    <a:ln w="25400">
                      <a:noFill/>
                    </a:ln>
                  </c:spPr>
                  <c:txPr>
                    <a:bodyPr wrap="square" lIns="38100" tIns="19050" rIns="38100" bIns="19050" anchor="ctr">
                      <a:spAutoFit/>
                    </a:bodyPr>
                    <a:lstStyle/>
                    <a:p>
                      <a:pPr>
                        <a:defRPr sz="1000" b="0" i="0" u="none" strike="noStrike" baseline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0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Charts!$C$3:$O$3</c15:sqref>
                        </c15:formulaRef>
                      </c:ext>
                    </c:extLst>
                    <c:numCache>
                      <c:formatCode>[$-409]mmm\-yy;@</c:formatCode>
                      <c:ptCount val="13"/>
                      <c:pt idx="0">
                        <c:v>45473</c:v>
                      </c:pt>
                      <c:pt idx="1">
                        <c:v>45504</c:v>
                      </c:pt>
                      <c:pt idx="2">
                        <c:v>45535</c:v>
                      </c:pt>
                      <c:pt idx="3">
                        <c:v>45565</c:v>
                      </c:pt>
                      <c:pt idx="4">
                        <c:v>45596</c:v>
                      </c:pt>
                      <c:pt idx="5">
                        <c:v>45626</c:v>
                      </c:pt>
                      <c:pt idx="6">
                        <c:v>45657</c:v>
                      </c:pt>
                      <c:pt idx="7">
                        <c:v>45688</c:v>
                      </c:pt>
                      <c:pt idx="8">
                        <c:v>45716</c:v>
                      </c:pt>
                      <c:pt idx="9">
                        <c:v>45747</c:v>
                      </c:pt>
                      <c:pt idx="10">
                        <c:v>45777</c:v>
                      </c:pt>
                      <c:pt idx="11">
                        <c:v>45808</c:v>
                      </c:pt>
                      <c:pt idx="12">
                        <c:v>45838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Charts!$C$6:$O$6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369</c:v>
                      </c:pt>
                      <c:pt idx="1">
                        <c:v>349</c:v>
                      </c:pt>
                      <c:pt idx="2">
                        <c:v>310</c:v>
                      </c:pt>
                      <c:pt idx="3">
                        <c:v>329</c:v>
                      </c:pt>
                      <c:pt idx="4">
                        <c:v>290</c:v>
                      </c:pt>
                      <c:pt idx="5">
                        <c:v>248</c:v>
                      </c:pt>
                      <c:pt idx="6">
                        <c:v>231</c:v>
                      </c:pt>
                      <c:pt idx="7">
                        <c:v>318</c:v>
                      </c:pt>
                      <c:pt idx="8">
                        <c:v>300</c:v>
                      </c:pt>
                      <c:pt idx="9">
                        <c:v>285</c:v>
                      </c:pt>
                      <c:pt idx="10">
                        <c:v>259</c:v>
                      </c:pt>
                      <c:pt idx="11">
                        <c:v>234</c:v>
                      </c:pt>
                      <c:pt idx="12">
                        <c:v>321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F-0D56-466C-BEA8-E7CB7856B815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Charts!$B$7</c:f>
              <c:strCache>
                <c:ptCount val="1"/>
                <c:pt idx="0">
                  <c:v>%</c:v>
                </c:pt>
              </c:strCache>
            </c:strRef>
          </c:tx>
          <c:spPr>
            <a:ln w="349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pPr>
              <a:ln>
                <a:solidFill>
                  <a:schemeClr val="accent2">
                    <a:lumMod val="75000"/>
                  </a:schemeClr>
                </a:solidFill>
              </a:ln>
            </c:spPr>
          </c:marker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D56-466C-BEA8-E7CB7856B815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0D56-466C-BEA8-E7CB7856B815}"/>
                </c:ext>
              </c:extLst>
            </c:dLbl>
            <c:dLbl>
              <c:idx val="2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D56-466C-BEA8-E7CB7856B815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0D56-466C-BEA8-E7CB7856B815}"/>
                </c:ext>
              </c:extLst>
            </c:dLbl>
            <c:dLbl>
              <c:idx val="4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0D56-466C-BEA8-E7CB7856B815}"/>
                </c:ext>
              </c:extLst>
            </c:dLbl>
            <c:dLbl>
              <c:idx val="5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0D56-466C-BEA8-E7CB7856B815}"/>
                </c:ext>
              </c:extLst>
            </c:dLbl>
            <c:dLbl>
              <c:idx val="8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0D56-466C-BEA8-E7CB7856B815}"/>
                </c:ext>
              </c:extLst>
            </c:dLbl>
            <c:dLbl>
              <c:idx val="9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0D56-466C-BEA8-E7CB7856B815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5D79EE79-4E24-469D-AD04-99B3C84A16B8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0D56-466C-BEA8-E7CB7856B815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45473</c:v>
                </c:pt>
                <c:pt idx="1">
                  <c:v>45504</c:v>
                </c:pt>
                <c:pt idx="2">
                  <c:v>45535</c:v>
                </c:pt>
                <c:pt idx="3">
                  <c:v>45565</c:v>
                </c:pt>
                <c:pt idx="4">
                  <c:v>45596</c:v>
                </c:pt>
                <c:pt idx="5">
                  <c:v>45626</c:v>
                </c:pt>
                <c:pt idx="6">
                  <c:v>45657</c:v>
                </c:pt>
                <c:pt idx="7">
                  <c:v>45688</c:v>
                </c:pt>
                <c:pt idx="8">
                  <c:v>45716</c:v>
                </c:pt>
                <c:pt idx="9">
                  <c:v>45747</c:v>
                </c:pt>
                <c:pt idx="10">
                  <c:v>45777</c:v>
                </c:pt>
                <c:pt idx="11">
                  <c:v>45808</c:v>
                </c:pt>
                <c:pt idx="12">
                  <c:v>45838</c:v>
                </c:pt>
              </c:numCache>
            </c:numRef>
          </c:cat>
          <c:val>
            <c:numRef>
              <c:f>Charts!$C$7:$O$7</c:f>
              <c:numCache>
                <c:formatCode>0%</c:formatCode>
                <c:ptCount val="13"/>
                <c:pt idx="0">
                  <c:v>5.4200542005420058E-2</c:v>
                </c:pt>
                <c:pt idx="1">
                  <c:v>0.11174785100286533</c:v>
                </c:pt>
                <c:pt idx="2">
                  <c:v>0.11935483870967742</c:v>
                </c:pt>
                <c:pt idx="3">
                  <c:v>0.11854103343465046</c:v>
                </c:pt>
                <c:pt idx="4">
                  <c:v>0.14482758620689656</c:v>
                </c:pt>
                <c:pt idx="5">
                  <c:v>0.15725806451612903</c:v>
                </c:pt>
                <c:pt idx="6">
                  <c:v>9.0909090909090912E-2</c:v>
                </c:pt>
                <c:pt idx="7">
                  <c:v>5.6603773584905662E-2</c:v>
                </c:pt>
                <c:pt idx="8">
                  <c:v>0.11666666666666667</c:v>
                </c:pt>
                <c:pt idx="9">
                  <c:v>9.1228070175438603E-2</c:v>
                </c:pt>
                <c:pt idx="10">
                  <c:v>9.6525096525096526E-2</c:v>
                </c:pt>
                <c:pt idx="11">
                  <c:v>0.16666666666666666</c:v>
                </c:pt>
                <c:pt idx="12">
                  <c:v>5.9190031152647975E-2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0D56-466C-BEA8-E7CB7856B8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5801439"/>
        <c:axId val="1005806239"/>
      </c:lineChart>
      <c:dateAx>
        <c:axId val="40092625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6256"/>
        <c:crosses val="autoZero"/>
        <c:crossBetween val="between"/>
      </c:valAx>
      <c:valAx>
        <c:axId val="1005806239"/>
        <c:scaling>
          <c:orientation val="minMax"/>
          <c:max val="0.30000000000000004"/>
        </c:scaling>
        <c:delete val="0"/>
        <c:axPos val="r"/>
        <c:numFmt formatCode="0%" sourceLinked="1"/>
        <c:majorTickMark val="out"/>
        <c:minorTickMark val="none"/>
        <c:tickLblPos val="nextTo"/>
        <c:crossAx val="1005801439"/>
        <c:crosses val="max"/>
        <c:crossBetween val="between"/>
      </c:valAx>
      <c:dateAx>
        <c:axId val="1005801439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1005806239"/>
        <c:crosses val="autoZero"/>
        <c:auto val="1"/>
        <c:lblOffset val="100"/>
        <c:baseTimeUnit val="months"/>
        <c:majorUnit val="1"/>
        <c:minorUnit val="1"/>
      </c:date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ჯამური კონტრაქტები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45473</c:v>
                </c:pt>
                <c:pt idx="1">
                  <c:v>45504</c:v>
                </c:pt>
                <c:pt idx="2">
                  <c:v>45535</c:v>
                </c:pt>
                <c:pt idx="3">
                  <c:v>45565</c:v>
                </c:pt>
                <c:pt idx="4">
                  <c:v>45596</c:v>
                </c:pt>
                <c:pt idx="5">
                  <c:v>45626</c:v>
                </c:pt>
                <c:pt idx="6">
                  <c:v>45657</c:v>
                </c:pt>
                <c:pt idx="7">
                  <c:v>45688</c:v>
                </c:pt>
                <c:pt idx="8">
                  <c:v>45716</c:v>
                </c:pt>
                <c:pt idx="9">
                  <c:v>45747</c:v>
                </c:pt>
                <c:pt idx="10">
                  <c:v>45777</c:v>
                </c:pt>
                <c:pt idx="11">
                  <c:v>45808</c:v>
                </c:pt>
                <c:pt idx="12">
                  <c:v>45838</c:v>
                </c:pt>
              </c:numCache>
            </c:numRef>
          </c:cat>
          <c:val>
            <c:numRef>
              <c:f>REPORT!$BF$14:$BR$14</c:f>
              <c:numCache>
                <c:formatCode>_([$$-409]* #,##0_);_([$$-409]* \(#,##0\);_([$$-409]* "-"??_);_(@_)</c:formatCode>
                <c:ptCount val="13"/>
                <c:pt idx="0">
                  <c:v>1795061</c:v>
                </c:pt>
                <c:pt idx="1">
                  <c:v>3514446</c:v>
                </c:pt>
                <c:pt idx="2">
                  <c:v>3044908</c:v>
                </c:pt>
                <c:pt idx="3">
                  <c:v>4043277</c:v>
                </c:pt>
                <c:pt idx="4">
                  <c:v>3222307</c:v>
                </c:pt>
                <c:pt idx="5">
                  <c:v>3155146.9999999995</c:v>
                </c:pt>
                <c:pt idx="6">
                  <c:v>2734696.38</c:v>
                </c:pt>
                <c:pt idx="7">
                  <c:v>1767724</c:v>
                </c:pt>
                <c:pt idx="8">
                  <c:v>3813216</c:v>
                </c:pt>
                <c:pt idx="9">
                  <c:v>3070120</c:v>
                </c:pt>
                <c:pt idx="10">
                  <c:v>2695008</c:v>
                </c:pt>
                <c:pt idx="11">
                  <c:v>4373949</c:v>
                </c:pt>
                <c:pt idx="12">
                  <c:v>2445465.6799999997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B9-426E-9C59-F778F470E6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9864"/>
        <c:axId val="1"/>
      </c:barChart>
      <c:dateAx>
        <c:axId val="400929864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none"/>
        <c:minorTickMark val="none"/>
        <c:tickLblPos val="nextTo"/>
        <c:crossAx val="40092986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საცხოვრებელის საშუალო გასაყიდი ფასი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1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1744300971859661"/>
          <c:y val="0.19795275590551178"/>
          <c:w val="0.86501214907178725"/>
          <c:h val="0.62036538195883406"/>
        </c:manualLayout>
      </c:layout>
      <c:lineChart>
        <c:grouping val="stacked"/>
        <c:varyColors val="0"/>
        <c:ser>
          <c:idx val="0"/>
          <c:order val="0"/>
          <c:tx>
            <c:strRef>
              <c:f>Charts!$B$67</c:f>
              <c:strCache>
                <c:ptCount val="1"/>
                <c:pt idx="0">
                  <c:v>სამგორი</c:v>
                </c:pt>
              </c:strCache>
            </c:strRef>
          </c:tx>
          <c:marker>
            <c:symbol val="diamond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45473</c:v>
                </c:pt>
                <c:pt idx="1">
                  <c:v>45504</c:v>
                </c:pt>
                <c:pt idx="2">
                  <c:v>45535</c:v>
                </c:pt>
                <c:pt idx="3">
                  <c:v>45565</c:v>
                </c:pt>
                <c:pt idx="4">
                  <c:v>45596</c:v>
                </c:pt>
                <c:pt idx="5">
                  <c:v>45626</c:v>
                </c:pt>
                <c:pt idx="6">
                  <c:v>45657</c:v>
                </c:pt>
                <c:pt idx="7">
                  <c:v>45688</c:v>
                </c:pt>
                <c:pt idx="8">
                  <c:v>45716</c:v>
                </c:pt>
                <c:pt idx="9">
                  <c:v>45747</c:v>
                </c:pt>
                <c:pt idx="10">
                  <c:v>45777</c:v>
                </c:pt>
                <c:pt idx="11">
                  <c:v>45808</c:v>
                </c:pt>
                <c:pt idx="12">
                  <c:v>45838</c:v>
                </c:pt>
              </c:numCache>
            </c:numRef>
          </c:cat>
          <c:val>
            <c:numRef>
              <c:f>Charts!$C$67:$O$67</c:f>
              <c:numCache>
                <c:formatCode>_([$$-409]* #,##0_);_([$$-409]* \(#,##0\);_([$$-409]* "-"??_);_(@_)</c:formatCode>
                <c:ptCount val="13"/>
                <c:pt idx="0">
                  <c:v>1089.7083603370058</c:v>
                </c:pt>
                <c:pt idx="1">
                  <c:v>1082.4158981685932</c:v>
                </c:pt>
                <c:pt idx="2">
                  <c:v>1113.9752822975015</c:v>
                </c:pt>
                <c:pt idx="3">
                  <c:v>1088.009250693802</c:v>
                </c:pt>
                <c:pt idx="4">
                  <c:v>1105.3907089151448</c:v>
                </c:pt>
                <c:pt idx="5">
                  <c:v>1099.0946502057611</c:v>
                </c:pt>
                <c:pt idx="6">
                  <c:v>1125.8176382660688</c:v>
                </c:pt>
                <c:pt idx="7">
                  <c:v>1183.0748274609518</c:v>
                </c:pt>
                <c:pt idx="8">
                  <c:v>1212.5950380152065</c:v>
                </c:pt>
                <c:pt idx="9">
                  <c:v>1089.7818946261989</c:v>
                </c:pt>
                <c:pt idx="10">
                  <c:v>1165.7038741848869</c:v>
                </c:pt>
                <c:pt idx="11">
                  <c:v>1183.6239889524561</c:v>
                </c:pt>
                <c:pt idx="12">
                  <c:v>1161.4155906264943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27-43FE-8823-AF040E818850}"/>
            </c:ext>
          </c:extLst>
        </c:ser>
        <c:ser>
          <c:idx val="1"/>
          <c:order val="1"/>
          <c:tx>
            <c:strRef>
              <c:f>Charts!$B$68</c:f>
              <c:strCache>
                <c:ptCount val="1"/>
                <c:pt idx="0">
                  <c:v>ლისი</c:v>
                </c:pt>
              </c:strCache>
            </c:strRef>
          </c:tx>
          <c:marker>
            <c:symbol val="squar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45473</c:v>
                </c:pt>
                <c:pt idx="1">
                  <c:v>45504</c:v>
                </c:pt>
                <c:pt idx="2">
                  <c:v>45535</c:v>
                </c:pt>
                <c:pt idx="3">
                  <c:v>45565</c:v>
                </c:pt>
                <c:pt idx="4">
                  <c:v>45596</c:v>
                </c:pt>
                <c:pt idx="5">
                  <c:v>45626</c:v>
                </c:pt>
                <c:pt idx="6">
                  <c:v>45657</c:v>
                </c:pt>
                <c:pt idx="7">
                  <c:v>45688</c:v>
                </c:pt>
                <c:pt idx="8">
                  <c:v>45716</c:v>
                </c:pt>
                <c:pt idx="9">
                  <c:v>45747</c:v>
                </c:pt>
                <c:pt idx="10">
                  <c:v>45777</c:v>
                </c:pt>
                <c:pt idx="11">
                  <c:v>45808</c:v>
                </c:pt>
                <c:pt idx="12">
                  <c:v>45838</c:v>
                </c:pt>
              </c:numCache>
            </c:numRef>
          </c:cat>
          <c:val>
            <c:numRef>
              <c:f>Charts!$C$68:$O$68</c:f>
              <c:numCache>
                <c:formatCode>_([$$-409]* #,##0_);_([$$-409]* \(#,##0\);_([$$-409]* "-"??_);_(@_)</c:formatCode>
                <c:ptCount val="13"/>
                <c:pt idx="0">
                  <c:v>1378.046875</c:v>
                </c:pt>
                <c:pt idx="1">
                  <c:v>1357.2084250235775</c:v>
                </c:pt>
                <c:pt idx="2">
                  <c:v>1412.0066445182724</c:v>
                </c:pt>
                <c:pt idx="3">
                  <c:v>1374.9783688511457</c:v>
                </c:pt>
                <c:pt idx="4">
                  <c:v>1374.9783688511457</c:v>
                </c:pt>
                <c:pt idx="5">
                  <c:v>1489.8901453957997</c:v>
                </c:pt>
                <c:pt idx="6">
                  <c:v>1434.6619453924916</c:v>
                </c:pt>
                <c:pt idx="7">
                  <c:v>1434.6619453924916</c:v>
                </c:pt>
                <c:pt idx="8">
                  <c:v>1457.4894692502105</c:v>
                </c:pt>
                <c:pt idx="9">
                  <c:v>1431.6958887545345</c:v>
                </c:pt>
                <c:pt idx="10">
                  <c:v>1474.3965517241379</c:v>
                </c:pt>
                <c:pt idx="11">
                  <c:v>1454.7850678733032</c:v>
                </c:pt>
                <c:pt idx="12">
                  <c:v>1491.6257647565703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27-43FE-8823-AF040E818850}"/>
            </c:ext>
          </c:extLst>
        </c:ser>
        <c:ser>
          <c:idx val="2"/>
          <c:order val="2"/>
          <c:tx>
            <c:strRef>
              <c:f>Charts!$B$69</c:f>
              <c:strCache>
                <c:ptCount val="1"/>
                <c:pt idx="0">
                  <c:v>უნივერსიტეტი</c:v>
                </c:pt>
              </c:strCache>
            </c:strRef>
          </c:tx>
          <c:marker>
            <c:symbol val="triangl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45473</c:v>
                </c:pt>
                <c:pt idx="1">
                  <c:v>45504</c:v>
                </c:pt>
                <c:pt idx="2">
                  <c:v>45535</c:v>
                </c:pt>
                <c:pt idx="3">
                  <c:v>45565</c:v>
                </c:pt>
                <c:pt idx="4">
                  <c:v>45596</c:v>
                </c:pt>
                <c:pt idx="5">
                  <c:v>45626</c:v>
                </c:pt>
                <c:pt idx="6">
                  <c:v>45657</c:v>
                </c:pt>
                <c:pt idx="7">
                  <c:v>45688</c:v>
                </c:pt>
                <c:pt idx="8">
                  <c:v>45716</c:v>
                </c:pt>
                <c:pt idx="9">
                  <c:v>45747</c:v>
                </c:pt>
                <c:pt idx="10">
                  <c:v>45777</c:v>
                </c:pt>
                <c:pt idx="11">
                  <c:v>45808</c:v>
                </c:pt>
                <c:pt idx="12">
                  <c:v>45838</c:v>
                </c:pt>
              </c:numCache>
            </c:numRef>
          </c:cat>
          <c:val>
            <c:numRef>
              <c:f>Charts!$C$69:$O$69</c:f>
              <c:numCache>
                <c:formatCode>_([$$-409]* #,##0_);_([$$-409]* \(#,##0\);_([$$-409]* "-"??_);_(@_)</c:formatCode>
                <c:ptCount val="13"/>
                <c:pt idx="0">
                  <c:v>1589.7352614015572</c:v>
                </c:pt>
                <c:pt idx="1">
                  <c:v>1527.2914501653283</c:v>
                </c:pt>
                <c:pt idx="2">
                  <c:v>1550.4705364995605</c:v>
                </c:pt>
                <c:pt idx="3">
                  <c:v>1569.1176470588236</c:v>
                </c:pt>
                <c:pt idx="4">
                  <c:v>1559.7953676635934</c:v>
                </c:pt>
                <c:pt idx="5">
                  <c:v>1592.1863354037266</c:v>
                </c:pt>
                <c:pt idx="6">
                  <c:v>1621.0362173038232</c:v>
                </c:pt>
                <c:pt idx="7">
                  <c:v>1580.1084430673893</c:v>
                </c:pt>
                <c:pt idx="8">
                  <c:v>1608.4264215735784</c:v>
                </c:pt>
                <c:pt idx="9">
                  <c:v>1664.9849548645939</c:v>
                </c:pt>
                <c:pt idx="10">
                  <c:v>1645.0407830342576</c:v>
                </c:pt>
                <c:pt idx="11">
                  <c:v>1675.2812293655077</c:v>
                </c:pt>
                <c:pt idx="12">
                  <c:v>1752.5914315569489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27-43FE-8823-AF040E81885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0927896"/>
        <c:axId val="1"/>
      </c:lineChart>
      <c:dateAx>
        <c:axId val="40092789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out"/>
        <c:minorTickMark val="none"/>
        <c:tickLblPos val="nextTo"/>
        <c:crossAx val="40092789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3.3357295306239585E-4"/>
          <c:y val="0.28645833333333331"/>
          <c:w val="0.12050797680012987"/>
          <c:h val="0.44062500000000004"/>
        </c:manualLayout>
      </c:layout>
      <c:overlay val="0"/>
      <c:txPr>
        <a:bodyPr/>
        <a:lstStyle/>
        <a:p>
          <a:pPr>
            <a:defRPr sz="845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474664F-DF9C-48AA-9DA3-B342B4330C19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DB7DB-900E-4B52-9FB8-B2AFF4AFA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0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1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822-CBA1-46F9-A374-A93D9602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11B24-2CA9-4F56-89B9-DC5BEEA90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B830-3A7C-4329-BE3A-AB99203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5B83-C84A-49FF-B14B-ADFAD7F9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1749-A2F2-4BF6-917E-129A3D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F580-D603-48DE-BC9E-0ECBB8D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DFF6-58D5-4F6A-BB3C-00FE0B10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61E7-AA43-4B18-B413-49663B59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2D45-D6F8-4FF8-9C81-543C7C8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3D74-A20C-43F1-8489-EB791A2F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0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F1-98A6-424F-ACBF-69B3B42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4E914-4E1D-482B-8955-59EAE08EB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D416-9079-4E8F-B903-0475623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B428-BC16-4F12-BF84-A87E4EEE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08D6-80E8-43E2-86CA-17CC12B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BFD-8491-4337-895F-055D8B8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4D6D-86D6-4256-B1ED-5C4046DD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2283F-D1C9-488F-98C7-9482C36A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D7CB-52C8-4CFD-91D9-38703114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1CAB-2F7D-4195-85D1-CF032B1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6BAC-8BC5-49DC-BB3D-CC375E35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728D-227A-497C-8586-43FB7C5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12795-4BBD-46F0-8657-F9E4917EF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AE11-9FAC-4E40-A8F3-2E314270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96B4-DC18-445A-AB26-E06BB23D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01855-F87D-45FB-A775-854192D86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3ED49-4C7E-4FEC-9146-96211E6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CBF1-3B8A-47D0-8ECA-D5BEF2E4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09073-3A48-4B72-98C3-AC319136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34B9-4EED-4C62-A766-01A8BD70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B7CA7-EFA3-449E-AFA2-5E9D55E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896EE-F538-4B94-9645-D1D27E2C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DC00-AC5A-4775-8C8E-D1116BF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7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C364-C428-4CF5-8B22-EC3FC101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E623-597F-4FB9-BB9F-FB217AA8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CA8D-F31A-4963-B60C-AE46B9F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10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BA7-2C35-4FD8-95D4-3FD1CC08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FE6-6A96-471A-A950-376BE64A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CFC5-2B36-404D-9995-E40FA9E6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A62-07FF-47C5-BA10-112F996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2002-DB49-4807-835B-BE934E6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DAD2-E391-4049-8A0E-2DDE880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2844-AE3A-490C-B942-4FE39D1E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DE005-4F56-477D-9291-36FEF178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7C96-4636-4DE2-910D-2CC24A61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7CDC-E1B8-4E87-875A-1597E2CA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7909-CF08-4C5E-9635-90521C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579A-B455-4190-BFCC-8A68113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1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B54C-9DC1-4DBA-9DD8-F1FF174A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4357-6E72-473A-9633-CA05F9F3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D0D7-D771-41D9-8E95-27B2A52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D86-2604-4B57-B4F2-8F3487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D0EA-36FD-496A-A565-373939FE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2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88324-B16F-4B82-8CF2-7F00BC7B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84B0-8CC5-41E6-8063-6FF872AB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7E46-444D-48D5-8471-7A85A38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9726-6875-4B72-AA1A-9F4633F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77C-5357-49B9-9D7C-A5D85D5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8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0123-14DA-456B-8FAC-F479E6CC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6AF2-A9E2-460D-9392-1BACE42F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990A-F095-4A64-9063-223909F99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9D1-1B18-4065-9C7D-DADCFC0748DE}" type="datetimeFigureOut">
              <a:rPr lang="ru-RU" smtClean="0"/>
              <a:t>22.07.2025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4BF7-F44F-49E3-B61E-F00BAF6E1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7962-996F-4425-AA85-177F3282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3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16FE8B-92A4-4329-AEB3-A3165F4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31" y="2798875"/>
            <a:ext cx="5888414" cy="1260249"/>
          </a:xfrm>
        </p:spPr>
        <p:txBody>
          <a:bodyPr>
            <a:normAutofit fontScale="90000"/>
          </a:bodyPr>
          <a:lstStyle/>
          <a:p>
            <a:r>
              <a:rPr lang="ka-GE" dirty="0"/>
              <a:t>2025 წლის </a:t>
            </a:r>
            <a:r>
              <a:rPr lang="en-US" dirty="0"/>
              <a:t>I-II </a:t>
            </a:r>
            <a:r>
              <a:rPr lang="ka-GE" dirty="0"/>
              <a:t>კვარტალი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E7DAA168-7206-B8CA-3275-03F125A69FEA}"/>
              </a:ext>
            </a:extLst>
          </p:cNvPr>
          <p:cNvSpPr txBox="1">
            <a:spLocks/>
          </p:cNvSpPr>
          <p:nvPr/>
        </p:nvSpPr>
        <p:spPr>
          <a:xfrm>
            <a:off x="3421523" y="123390"/>
            <a:ext cx="591249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600" b="1" dirty="0"/>
              <a:t>დაგეგმილი და რეალური ბიუჯეტი</a:t>
            </a:r>
            <a:endParaRPr lang="en-US" sz="2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7AFAB-556C-15FB-2145-DA80E41C5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3" y="869903"/>
            <a:ext cx="11983634" cy="511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4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5205581" y="162497"/>
            <a:ext cx="178083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შემოსავლები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66991F-B106-446E-A3F5-FAC880A863DC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100-00008A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311031"/>
              </p:ext>
            </p:extLst>
          </p:nvPr>
        </p:nvGraphicFramePr>
        <p:xfrm>
          <a:off x="1537096" y="604724"/>
          <a:ext cx="9117807" cy="2710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100-00008B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337425"/>
              </p:ext>
            </p:extLst>
          </p:nvPr>
        </p:nvGraphicFramePr>
        <p:xfrm>
          <a:off x="1537096" y="3542907"/>
          <a:ext cx="9117806" cy="2710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5065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EBFD98-7A52-F159-2479-13191760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12" y="3580951"/>
            <a:ext cx="1400372" cy="1000265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2437A65-D3D5-4710-8C13-25221221553D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100-00008C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0125781"/>
              </p:ext>
            </p:extLst>
          </p:nvPr>
        </p:nvGraphicFramePr>
        <p:xfrm>
          <a:off x="839212" y="143338"/>
          <a:ext cx="10264217" cy="2929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51C2756-1666-8334-0F6C-52F2A737B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388" y="3310553"/>
            <a:ext cx="2640183" cy="1249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6717F6-E998-3516-CF8C-2AF38A9878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294" y="3315218"/>
            <a:ext cx="4124780" cy="1647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B60CD8-F5B4-A1C2-52FB-B7545F2D5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212" y="4798484"/>
            <a:ext cx="5941423" cy="153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8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B325A6-3F45-C7A9-2812-A2812604E51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2F14E-F931-A24B-4FFF-F735F2EB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458155"/>
            <a:ext cx="11307753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8A72C-9F80-0AFF-DD1A-7F7FBB41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BF0459-C5E5-0CBC-100F-2A37408088C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8C9AA-C037-3D39-8F43-1FC8D2E7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9" y="446034"/>
            <a:ext cx="11708202" cy="551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E144D-3D2E-159E-FC54-EF2231E6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1CD8AE-B54C-6463-C0E0-0E247419CF0B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4ABDD-0ABF-F358-77FE-91B2B3D6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42" y="414286"/>
            <a:ext cx="11604115" cy="54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D5F5962F-EEDA-B4DB-E169-BAA9F65B5281}"/>
              </a:ext>
            </a:extLst>
          </p:cNvPr>
          <p:cNvSpPr txBox="1">
            <a:spLocks/>
          </p:cNvSpPr>
          <p:nvPr/>
        </p:nvSpPr>
        <p:spPr>
          <a:xfrm>
            <a:off x="3956572" y="149370"/>
            <a:ext cx="4278855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/>
              <a:t>კომერციულების გაყიდვა ჯიქიაზე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7C3E34-7514-31CC-1C4A-B4FF8EFD37B7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06.2025</a:t>
            </a:r>
            <a:endParaRPr lang="ru-RU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4313C-F84D-6E55-9438-4E89D796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008" y="1336179"/>
            <a:ext cx="9199984" cy="41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01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20145</TotalTime>
  <Words>77</Words>
  <Application>Microsoft Office PowerPoint</Application>
  <PresentationFormat>Widescreen</PresentationFormat>
  <Paragraphs>26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Sylfaen</vt:lpstr>
      <vt:lpstr>Office Theme</vt:lpstr>
      <vt:lpstr>2025 წლის I-II კვარტალი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Beso</dc:creator>
  <cp:lastModifiedBy>beso Ortoidze</cp:lastModifiedBy>
  <cp:revision>192</cp:revision>
  <dcterms:created xsi:type="dcterms:W3CDTF">2020-10-15T19:38:02Z</dcterms:created>
  <dcterms:modified xsi:type="dcterms:W3CDTF">2025-07-22T06:06:40Z</dcterms:modified>
</cp:coreProperties>
</file>